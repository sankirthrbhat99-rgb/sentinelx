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 (MS)" panose="020B0604020202020204" charset="0"/>
      <p:regular r:id="rId8"/>
    </p:embeddedFont>
    <p:embeddedFont>
      <p:font typeface="Heebo Bold" panose="020B0604020202020204" charset="-79"/>
      <p:regular r:id="rId9"/>
    </p:embeddedFont>
    <p:embeddedFont>
      <p:font typeface="Heebo Light" pitchFamily="2" charset="-79"/>
      <p:regular r:id="rId10"/>
    </p:embeddedFont>
    <p:embeddedFont>
      <p:font typeface="Montserrat" panose="00000500000000000000" pitchFamily="2" charset="0"/>
      <p:regular r:id="rId11"/>
    </p:embeddedFont>
    <p:embeddedFont>
      <p:font typeface="Montserrat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42C2AB-D83D-4DFF-83C6-238458ABAE56}">
          <p14:sldIdLst>
            <p14:sldId id="256"/>
            <p14:sldId id="257"/>
          </p14:sldIdLst>
        </p14:section>
        <p14:section name="Untitled Section" id="{779247AB-9C69-46AA-85CC-833ABD88D9F7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122138"/>
            <a:ext cx="18288000" cy="9974362"/>
            <a:chOff x="29119" y="136013"/>
            <a:chExt cx="24384000" cy="13716000"/>
          </a:xfrm>
        </p:grpSpPr>
        <p:sp>
          <p:nvSpPr>
            <p:cNvPr id="6" name="Freeform 6"/>
            <p:cNvSpPr/>
            <p:nvPr/>
          </p:nvSpPr>
          <p:spPr>
            <a:xfrm>
              <a:off x="29119" y="136013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838484" y="620048"/>
            <a:ext cx="9469041" cy="349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400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Makers Conclave 2026 </a:t>
            </a:r>
          </a:p>
          <a:p>
            <a:pPr>
              <a:lnSpc>
                <a:spcPts val="6875"/>
              </a:lnSpc>
            </a:pPr>
            <a:r>
              <a:rPr lang="en-US" sz="5500" dirty="0" err="1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SentinelX</a:t>
            </a:r>
            <a:r>
              <a:rPr lang="en-US" sz="550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 – Edge AI Fall Risk Prediction &amp; Prevention Wearable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43400" y="4210312"/>
            <a:ext cx="9469041" cy="97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Problem Statement ID:</a:t>
            </a: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MC-48 | AI-Powered Fall Prevention Wearable for Elderly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91780" y="5074278"/>
            <a:ext cx="9469041" cy="42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187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Team :</a:t>
            </a: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2187" dirty="0" err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SentinelX</a:t>
            </a: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| </a:t>
            </a:r>
            <a:r>
              <a:rPr lang="en-US" sz="2187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Team Leader’s NIAT ID:</a:t>
            </a: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N25B01A0097 | </a:t>
            </a:r>
            <a:r>
              <a:rPr lang="en-US" sz="2187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Submission:</a:t>
            </a:r>
            <a:endParaRPr lang="en-US" sz="2187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72404" y="5625801"/>
            <a:ext cx="5039316" cy="85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US" sz="215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Campus Name: </a:t>
            </a:r>
            <a:r>
              <a:rPr lang="en-US" sz="2150" dirty="0">
                <a:solidFill>
                  <a:srgbClr val="DCD7E5"/>
                </a:solidFill>
                <a:latin typeface="Heebo Light" pitchFamily="2" charset="-79"/>
                <a:ea typeface="Heebo Bold"/>
                <a:cs typeface="Heebo Light" pitchFamily="2" charset="-79"/>
                <a:sym typeface="Heebo Bold"/>
              </a:rPr>
              <a:t>SVYASA BANGALORE</a:t>
            </a:r>
            <a:endParaRPr lang="en-US" sz="2150" dirty="0">
              <a:solidFill>
                <a:srgbClr val="F2F0F4"/>
              </a:solidFill>
              <a:latin typeface="Heebo Light" pitchFamily="2" charset="-79"/>
              <a:ea typeface="Montserrat"/>
              <a:cs typeface="Heebo Light" pitchFamily="2" charset="-79"/>
              <a:sym typeface="Montserrat"/>
            </a:endParaRPr>
          </a:p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Team Members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4800" y="6464446"/>
            <a:ext cx="9469041" cy="266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00"/>
              </a:lnSpc>
              <a:buFont typeface="Arial"/>
              <a:buChar char="•"/>
            </a:pPr>
            <a:r>
              <a:rPr lang="en-US" sz="2187" dirty="0" err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Sankirth</a:t>
            </a: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R Bhat — N25B01A0097 — CSE</a:t>
            </a:r>
          </a:p>
          <a:p>
            <a:pPr marL="329902" lvl="1" indent="-164951" algn="l">
              <a:lnSpc>
                <a:spcPts val="3500"/>
              </a:lnSpc>
              <a:buFont typeface="Arial"/>
              <a:buChar char="•"/>
            </a:pP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Manish P Shetty — N25B01A0148 — CSE</a:t>
            </a:r>
          </a:p>
          <a:p>
            <a:pPr marL="329902" lvl="1" indent="-164951" algn="l">
              <a:lnSpc>
                <a:spcPts val="3500"/>
              </a:lnSpc>
              <a:buFont typeface="Arial"/>
              <a:buChar char="•"/>
            </a:pP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 Darshit — N25B01A0074 — CSE</a:t>
            </a:r>
          </a:p>
          <a:p>
            <a:pPr marL="329902" lvl="1" indent="-164951" algn="l">
              <a:lnSpc>
                <a:spcPts val="3500"/>
              </a:lnSpc>
              <a:buFont typeface="Arial"/>
              <a:buChar char="•"/>
            </a:pP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Nitish Kumar — N25B01A0089 — CSE</a:t>
            </a:r>
          </a:p>
          <a:p>
            <a:pPr marL="329902" lvl="1" indent="-164951" algn="l">
              <a:lnSpc>
                <a:spcPts val="3500"/>
              </a:lnSpc>
              <a:buFont typeface="Arial"/>
              <a:buChar char="•"/>
            </a:pPr>
            <a:endParaRPr lang="en-US" sz="2187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marL="164951" lvl="1" algn="l">
              <a:lnSpc>
                <a:spcPts val="3500"/>
              </a:lnSpc>
            </a:pPr>
            <a:r>
              <a:rPr lang="en-US" sz="2187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Submission Date: 02-03-2026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70439" y="9330321"/>
            <a:ext cx="9469041" cy="33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1750" i="1" dirty="0">
                <a:solidFill>
                  <a:srgbClr val="CCCCCC"/>
                </a:solidFill>
                <a:latin typeface="Heebo Light"/>
                <a:ea typeface="Heebo Light"/>
                <a:cs typeface="Heebo Light"/>
                <a:sym typeface="Heebo Light"/>
              </a:rPr>
              <a:t>N25B01A0097 | Problem ID: MC-48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9799" y="215638"/>
            <a:ext cx="18288000" cy="10253816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981638" y="386952"/>
            <a:ext cx="93425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Problem Understanding &amp; Solution 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02107" y="1067730"/>
            <a:ext cx="3086843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The Challenge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02107" y="1482067"/>
            <a:ext cx="7436796" cy="113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Elderly falls cause severe injuries and delayed medical response. Existing solutions detect falls </a:t>
            </a:r>
            <a:r>
              <a:rPr lang="en-US" sz="175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after impact</a:t>
            </a: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, are costly, or rely on cloud connectivity. We need an </a:t>
            </a:r>
            <a:r>
              <a:rPr lang="en-US" sz="1750" dirty="0">
                <a:solidFill>
                  <a:srgbClr val="FAA1A1"/>
                </a:solidFill>
                <a:latin typeface="Heebo Light"/>
                <a:ea typeface="Heebo Light"/>
                <a:cs typeface="Heebo Light"/>
                <a:sym typeface="Heebo Light"/>
              </a:rPr>
              <a:t>affordable system</a:t>
            </a: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that predicts risk early, detects falls reliably, and alerts caregivers immediately.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0755" y="985934"/>
            <a:ext cx="3086843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Our Solution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67735" y="1411673"/>
            <a:ext cx="6260754" cy="8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74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 </a:t>
            </a:r>
            <a:r>
              <a:rPr lang="en-US" sz="1874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low-cost wearable</a:t>
            </a:r>
            <a:r>
              <a:rPr lang="en-US" sz="1874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using MPU6050 motion sensor connected to ESP32 running edge ML model for real-time analysis.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078328" y="2696394"/>
            <a:ext cx="3447459" cy="1419225"/>
            <a:chOff x="0" y="0"/>
            <a:chExt cx="4596613" cy="1892300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4583938" cy="1879600"/>
            </a:xfrm>
            <a:custGeom>
              <a:avLst/>
              <a:gdLst/>
              <a:ahLst/>
              <a:cxnLst/>
              <a:rect l="l" t="t" r="r" b="b"/>
              <a:pathLst>
                <a:path w="4583938" h="1879600">
                  <a:moveTo>
                    <a:pt x="0" y="658495"/>
                  </a:moveTo>
                  <a:cubicBezTo>
                    <a:pt x="0" y="294894"/>
                    <a:pt x="296037" y="0"/>
                    <a:pt x="661162" y="0"/>
                  </a:cubicBezTo>
                  <a:lnTo>
                    <a:pt x="3922776" y="0"/>
                  </a:lnTo>
                  <a:cubicBezTo>
                    <a:pt x="4287901" y="0"/>
                    <a:pt x="4583938" y="294894"/>
                    <a:pt x="4583938" y="658495"/>
                  </a:cubicBezTo>
                  <a:lnTo>
                    <a:pt x="4583938" y="1221105"/>
                  </a:lnTo>
                  <a:cubicBezTo>
                    <a:pt x="4583938" y="1584833"/>
                    <a:pt x="4287901" y="1879600"/>
                    <a:pt x="3922776" y="1879600"/>
                  </a:cubicBezTo>
                  <a:lnTo>
                    <a:pt x="661162" y="1879600"/>
                  </a:lnTo>
                  <a:cubicBezTo>
                    <a:pt x="296037" y="1879600"/>
                    <a:pt x="0" y="1584706"/>
                    <a:pt x="0" y="1221105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596638" cy="1892300"/>
            </a:xfrm>
            <a:custGeom>
              <a:avLst/>
              <a:gdLst/>
              <a:ahLst/>
              <a:cxnLst/>
              <a:rect l="l" t="t" r="r" b="b"/>
              <a:pathLst>
                <a:path w="4596638" h="1892300">
                  <a:moveTo>
                    <a:pt x="0" y="664845"/>
                  </a:moveTo>
                  <a:cubicBezTo>
                    <a:pt x="0" y="297688"/>
                    <a:pt x="298831" y="0"/>
                    <a:pt x="667512" y="0"/>
                  </a:cubicBez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cubicBezTo>
                    <a:pt x="4297807" y="0"/>
                    <a:pt x="4596638" y="297688"/>
                    <a:pt x="4596638" y="664845"/>
                  </a:cubicBezTo>
                  <a:lnTo>
                    <a:pt x="4590288" y="664845"/>
                  </a:lnTo>
                  <a:lnTo>
                    <a:pt x="4596638" y="664845"/>
                  </a:lnTo>
                  <a:lnTo>
                    <a:pt x="4596638" y="1227455"/>
                  </a:lnTo>
                  <a:lnTo>
                    <a:pt x="4590288" y="1227455"/>
                  </a:lnTo>
                  <a:lnTo>
                    <a:pt x="4596638" y="1227455"/>
                  </a:lnTo>
                  <a:cubicBezTo>
                    <a:pt x="4596638" y="1594739"/>
                    <a:pt x="4297807" y="1892300"/>
                    <a:pt x="3929126" y="1892300"/>
                  </a:cubicBezTo>
                  <a:lnTo>
                    <a:pt x="3929126" y="1885950"/>
                  </a:lnTo>
                  <a:lnTo>
                    <a:pt x="3929126" y="1892300"/>
                  </a:lnTo>
                  <a:lnTo>
                    <a:pt x="667512" y="1892300"/>
                  </a:lnTo>
                  <a:lnTo>
                    <a:pt x="667512" y="1885950"/>
                  </a:lnTo>
                  <a:lnTo>
                    <a:pt x="667512" y="1892300"/>
                  </a:lnTo>
                  <a:cubicBezTo>
                    <a:pt x="298831" y="1892300"/>
                    <a:pt x="0" y="1594612"/>
                    <a:pt x="0" y="1227455"/>
                  </a:cubicBezTo>
                  <a:lnTo>
                    <a:pt x="0" y="664845"/>
                  </a:lnTo>
                  <a:lnTo>
                    <a:pt x="6350" y="664845"/>
                  </a:lnTo>
                  <a:lnTo>
                    <a:pt x="0" y="664845"/>
                  </a:lnTo>
                  <a:moveTo>
                    <a:pt x="12700" y="664845"/>
                  </a:moveTo>
                  <a:lnTo>
                    <a:pt x="12700" y="1227455"/>
                  </a:lnTo>
                  <a:lnTo>
                    <a:pt x="6350" y="1227455"/>
                  </a:lnTo>
                  <a:lnTo>
                    <a:pt x="12700" y="1227455"/>
                  </a:lnTo>
                  <a:cubicBezTo>
                    <a:pt x="12700" y="1587627"/>
                    <a:pt x="305816" y="1879600"/>
                    <a:pt x="667512" y="1879600"/>
                  </a:cubicBezTo>
                  <a:lnTo>
                    <a:pt x="3929126" y="1879600"/>
                  </a:lnTo>
                  <a:cubicBezTo>
                    <a:pt x="4290822" y="1879600"/>
                    <a:pt x="4583938" y="1587627"/>
                    <a:pt x="4583938" y="1227455"/>
                  </a:cubicBezTo>
                  <a:lnTo>
                    <a:pt x="4583938" y="664845"/>
                  </a:lnTo>
                  <a:cubicBezTo>
                    <a:pt x="4583938" y="304673"/>
                    <a:pt x="4290822" y="12700"/>
                    <a:pt x="3929126" y="12700"/>
                  </a:cubicBezTo>
                  <a:lnTo>
                    <a:pt x="667512" y="12700"/>
                  </a:lnTo>
                  <a:lnTo>
                    <a:pt x="667512" y="6350"/>
                  </a:lnTo>
                  <a:lnTo>
                    <a:pt x="667512" y="12700"/>
                  </a:lnTo>
                  <a:cubicBezTo>
                    <a:pt x="305816" y="12700"/>
                    <a:pt x="12700" y="304673"/>
                    <a:pt x="12700" y="66484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398007" y="2823739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Pre-fall Detection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77472" y="3212331"/>
            <a:ext cx="3007519" cy="56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🧠 Motion Pattern → Instability Score → Risk Flag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626595" y="2701157"/>
            <a:ext cx="3447459" cy="1419225"/>
            <a:chOff x="0" y="0"/>
            <a:chExt cx="4596613" cy="1892300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4583938" cy="1879600"/>
            </a:xfrm>
            <a:custGeom>
              <a:avLst/>
              <a:gdLst/>
              <a:ahLst/>
              <a:cxnLst/>
              <a:rect l="l" t="t" r="r" b="b"/>
              <a:pathLst>
                <a:path w="4583938" h="1879600">
                  <a:moveTo>
                    <a:pt x="0" y="658495"/>
                  </a:moveTo>
                  <a:cubicBezTo>
                    <a:pt x="0" y="294894"/>
                    <a:pt x="296037" y="0"/>
                    <a:pt x="661162" y="0"/>
                  </a:cubicBezTo>
                  <a:lnTo>
                    <a:pt x="3922776" y="0"/>
                  </a:lnTo>
                  <a:cubicBezTo>
                    <a:pt x="4287901" y="0"/>
                    <a:pt x="4583938" y="294894"/>
                    <a:pt x="4583938" y="658495"/>
                  </a:cubicBezTo>
                  <a:lnTo>
                    <a:pt x="4583938" y="1221105"/>
                  </a:lnTo>
                  <a:cubicBezTo>
                    <a:pt x="4583938" y="1584833"/>
                    <a:pt x="4287901" y="1879600"/>
                    <a:pt x="3922776" y="1879600"/>
                  </a:cubicBezTo>
                  <a:lnTo>
                    <a:pt x="661162" y="1879600"/>
                  </a:lnTo>
                  <a:cubicBezTo>
                    <a:pt x="296037" y="1879600"/>
                    <a:pt x="0" y="1584706"/>
                    <a:pt x="0" y="1221105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596638" cy="1892300"/>
            </a:xfrm>
            <a:custGeom>
              <a:avLst/>
              <a:gdLst/>
              <a:ahLst/>
              <a:cxnLst/>
              <a:rect l="l" t="t" r="r" b="b"/>
              <a:pathLst>
                <a:path w="4596638" h="1892300">
                  <a:moveTo>
                    <a:pt x="0" y="664845"/>
                  </a:moveTo>
                  <a:cubicBezTo>
                    <a:pt x="0" y="297688"/>
                    <a:pt x="298831" y="0"/>
                    <a:pt x="667512" y="0"/>
                  </a:cubicBez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cubicBezTo>
                    <a:pt x="4297807" y="0"/>
                    <a:pt x="4596638" y="297688"/>
                    <a:pt x="4596638" y="664845"/>
                  </a:cubicBezTo>
                  <a:lnTo>
                    <a:pt x="4590288" y="664845"/>
                  </a:lnTo>
                  <a:lnTo>
                    <a:pt x="4596638" y="664845"/>
                  </a:lnTo>
                  <a:lnTo>
                    <a:pt x="4596638" y="1227455"/>
                  </a:lnTo>
                  <a:lnTo>
                    <a:pt x="4590288" y="1227455"/>
                  </a:lnTo>
                  <a:lnTo>
                    <a:pt x="4596638" y="1227455"/>
                  </a:lnTo>
                  <a:cubicBezTo>
                    <a:pt x="4596638" y="1594739"/>
                    <a:pt x="4297807" y="1892300"/>
                    <a:pt x="3929126" y="1892300"/>
                  </a:cubicBezTo>
                  <a:lnTo>
                    <a:pt x="3929126" y="1885950"/>
                  </a:lnTo>
                  <a:lnTo>
                    <a:pt x="3929126" y="1892300"/>
                  </a:lnTo>
                  <a:lnTo>
                    <a:pt x="667512" y="1892300"/>
                  </a:lnTo>
                  <a:lnTo>
                    <a:pt x="667512" y="1885950"/>
                  </a:lnTo>
                  <a:lnTo>
                    <a:pt x="667512" y="1892300"/>
                  </a:lnTo>
                  <a:cubicBezTo>
                    <a:pt x="298831" y="1892300"/>
                    <a:pt x="0" y="1594612"/>
                    <a:pt x="0" y="1227455"/>
                  </a:cubicBezTo>
                  <a:lnTo>
                    <a:pt x="0" y="664845"/>
                  </a:lnTo>
                  <a:lnTo>
                    <a:pt x="6350" y="664845"/>
                  </a:lnTo>
                  <a:lnTo>
                    <a:pt x="0" y="664845"/>
                  </a:lnTo>
                  <a:moveTo>
                    <a:pt x="12700" y="664845"/>
                  </a:moveTo>
                  <a:lnTo>
                    <a:pt x="12700" y="1227455"/>
                  </a:lnTo>
                  <a:lnTo>
                    <a:pt x="6350" y="1227455"/>
                  </a:lnTo>
                  <a:lnTo>
                    <a:pt x="12700" y="1227455"/>
                  </a:lnTo>
                  <a:cubicBezTo>
                    <a:pt x="12700" y="1587627"/>
                    <a:pt x="305816" y="1879600"/>
                    <a:pt x="667512" y="1879600"/>
                  </a:cubicBezTo>
                  <a:lnTo>
                    <a:pt x="3929126" y="1879600"/>
                  </a:lnTo>
                  <a:cubicBezTo>
                    <a:pt x="4290822" y="1879600"/>
                    <a:pt x="4583938" y="1587627"/>
                    <a:pt x="4583938" y="1227455"/>
                  </a:cubicBezTo>
                  <a:lnTo>
                    <a:pt x="4583938" y="664845"/>
                  </a:lnTo>
                  <a:cubicBezTo>
                    <a:pt x="4583938" y="304673"/>
                    <a:pt x="4290822" y="12700"/>
                    <a:pt x="3929126" y="12700"/>
                  </a:cubicBezTo>
                  <a:lnTo>
                    <a:pt x="667512" y="12700"/>
                  </a:lnTo>
                  <a:lnTo>
                    <a:pt x="667512" y="6350"/>
                  </a:lnTo>
                  <a:lnTo>
                    <a:pt x="667512" y="12700"/>
                  </a:lnTo>
                  <a:cubicBezTo>
                    <a:pt x="305816" y="12700"/>
                    <a:pt x="12700" y="304673"/>
                    <a:pt x="12700" y="66484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847943" y="2865663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Fall Classification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6566" y="3225284"/>
            <a:ext cx="3007519" cy="56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Impact event detection with high accuracy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13799" y="2639054"/>
            <a:ext cx="3447459" cy="1419225"/>
            <a:chOff x="0" y="0"/>
            <a:chExt cx="4596613" cy="1892300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4583938" cy="1879600"/>
            </a:xfrm>
            <a:custGeom>
              <a:avLst/>
              <a:gdLst/>
              <a:ahLst/>
              <a:cxnLst/>
              <a:rect l="l" t="t" r="r" b="b"/>
              <a:pathLst>
                <a:path w="4583938" h="1879600">
                  <a:moveTo>
                    <a:pt x="0" y="658495"/>
                  </a:moveTo>
                  <a:cubicBezTo>
                    <a:pt x="0" y="294894"/>
                    <a:pt x="296037" y="0"/>
                    <a:pt x="661162" y="0"/>
                  </a:cubicBezTo>
                  <a:lnTo>
                    <a:pt x="3922776" y="0"/>
                  </a:lnTo>
                  <a:cubicBezTo>
                    <a:pt x="4287901" y="0"/>
                    <a:pt x="4583938" y="294894"/>
                    <a:pt x="4583938" y="658495"/>
                  </a:cubicBezTo>
                  <a:lnTo>
                    <a:pt x="4583938" y="1221105"/>
                  </a:lnTo>
                  <a:cubicBezTo>
                    <a:pt x="4583938" y="1584833"/>
                    <a:pt x="4287901" y="1879600"/>
                    <a:pt x="3922776" y="1879600"/>
                  </a:cubicBezTo>
                  <a:lnTo>
                    <a:pt x="661162" y="1879600"/>
                  </a:lnTo>
                  <a:cubicBezTo>
                    <a:pt x="296037" y="1879600"/>
                    <a:pt x="0" y="1584706"/>
                    <a:pt x="0" y="1221105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4596638" cy="1892300"/>
            </a:xfrm>
            <a:custGeom>
              <a:avLst/>
              <a:gdLst/>
              <a:ahLst/>
              <a:cxnLst/>
              <a:rect l="l" t="t" r="r" b="b"/>
              <a:pathLst>
                <a:path w="4596638" h="1892300">
                  <a:moveTo>
                    <a:pt x="0" y="664845"/>
                  </a:moveTo>
                  <a:cubicBezTo>
                    <a:pt x="0" y="297688"/>
                    <a:pt x="298831" y="0"/>
                    <a:pt x="667512" y="0"/>
                  </a:cubicBez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cubicBezTo>
                    <a:pt x="4297807" y="0"/>
                    <a:pt x="4596638" y="297688"/>
                    <a:pt x="4596638" y="664845"/>
                  </a:cubicBezTo>
                  <a:lnTo>
                    <a:pt x="4590288" y="664845"/>
                  </a:lnTo>
                  <a:lnTo>
                    <a:pt x="4596638" y="664845"/>
                  </a:lnTo>
                  <a:lnTo>
                    <a:pt x="4596638" y="1227455"/>
                  </a:lnTo>
                  <a:lnTo>
                    <a:pt x="4590288" y="1227455"/>
                  </a:lnTo>
                  <a:lnTo>
                    <a:pt x="4596638" y="1227455"/>
                  </a:lnTo>
                  <a:cubicBezTo>
                    <a:pt x="4596638" y="1594739"/>
                    <a:pt x="4297807" y="1892300"/>
                    <a:pt x="3929126" y="1892300"/>
                  </a:cubicBezTo>
                  <a:lnTo>
                    <a:pt x="3929126" y="1885950"/>
                  </a:lnTo>
                  <a:lnTo>
                    <a:pt x="3929126" y="1892300"/>
                  </a:lnTo>
                  <a:lnTo>
                    <a:pt x="667512" y="1892300"/>
                  </a:lnTo>
                  <a:lnTo>
                    <a:pt x="667512" y="1885950"/>
                  </a:lnTo>
                  <a:lnTo>
                    <a:pt x="667512" y="1892300"/>
                  </a:lnTo>
                  <a:cubicBezTo>
                    <a:pt x="298831" y="1892300"/>
                    <a:pt x="0" y="1594612"/>
                    <a:pt x="0" y="1227455"/>
                  </a:cubicBezTo>
                  <a:lnTo>
                    <a:pt x="0" y="664845"/>
                  </a:lnTo>
                  <a:lnTo>
                    <a:pt x="6350" y="664845"/>
                  </a:lnTo>
                  <a:lnTo>
                    <a:pt x="0" y="664845"/>
                  </a:lnTo>
                  <a:moveTo>
                    <a:pt x="12700" y="664845"/>
                  </a:moveTo>
                  <a:lnTo>
                    <a:pt x="12700" y="1227455"/>
                  </a:lnTo>
                  <a:lnTo>
                    <a:pt x="6350" y="1227455"/>
                  </a:lnTo>
                  <a:lnTo>
                    <a:pt x="12700" y="1227455"/>
                  </a:lnTo>
                  <a:cubicBezTo>
                    <a:pt x="12700" y="1587627"/>
                    <a:pt x="305816" y="1879600"/>
                    <a:pt x="667512" y="1879600"/>
                  </a:cubicBezTo>
                  <a:lnTo>
                    <a:pt x="3929126" y="1879600"/>
                  </a:lnTo>
                  <a:cubicBezTo>
                    <a:pt x="4290822" y="1879600"/>
                    <a:pt x="4583938" y="1587627"/>
                    <a:pt x="4583938" y="1227455"/>
                  </a:cubicBezTo>
                  <a:lnTo>
                    <a:pt x="4583938" y="664845"/>
                  </a:lnTo>
                  <a:cubicBezTo>
                    <a:pt x="4583938" y="304673"/>
                    <a:pt x="4290822" y="12700"/>
                    <a:pt x="3929126" y="12700"/>
                  </a:cubicBezTo>
                  <a:lnTo>
                    <a:pt x="667512" y="12700"/>
                  </a:lnTo>
                  <a:lnTo>
                    <a:pt x="667512" y="6350"/>
                  </a:lnTo>
                  <a:lnTo>
                    <a:pt x="667512" y="12700"/>
                  </a:lnTo>
                  <a:cubicBezTo>
                    <a:pt x="305816" y="12700"/>
                    <a:pt x="12700" y="304673"/>
                    <a:pt x="12700" y="66484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9535936" y="2772985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Context Logic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35936" y="3152138"/>
            <a:ext cx="3007519" cy="56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Location-aware sensitivity adjustment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805620" y="2606721"/>
            <a:ext cx="3447459" cy="1419225"/>
            <a:chOff x="0" y="0"/>
            <a:chExt cx="4596613" cy="1892300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4583938" cy="1879600"/>
            </a:xfrm>
            <a:custGeom>
              <a:avLst/>
              <a:gdLst/>
              <a:ahLst/>
              <a:cxnLst/>
              <a:rect l="l" t="t" r="r" b="b"/>
              <a:pathLst>
                <a:path w="4583938" h="1879600">
                  <a:moveTo>
                    <a:pt x="0" y="658495"/>
                  </a:moveTo>
                  <a:cubicBezTo>
                    <a:pt x="0" y="294894"/>
                    <a:pt x="296037" y="0"/>
                    <a:pt x="661162" y="0"/>
                  </a:cubicBezTo>
                  <a:lnTo>
                    <a:pt x="3922776" y="0"/>
                  </a:lnTo>
                  <a:cubicBezTo>
                    <a:pt x="4287901" y="0"/>
                    <a:pt x="4583938" y="294894"/>
                    <a:pt x="4583938" y="658495"/>
                  </a:cubicBezTo>
                  <a:lnTo>
                    <a:pt x="4583938" y="1221105"/>
                  </a:lnTo>
                  <a:cubicBezTo>
                    <a:pt x="4583938" y="1584833"/>
                    <a:pt x="4287901" y="1879600"/>
                    <a:pt x="3922776" y="1879600"/>
                  </a:cubicBezTo>
                  <a:lnTo>
                    <a:pt x="661162" y="1879600"/>
                  </a:lnTo>
                  <a:cubicBezTo>
                    <a:pt x="296037" y="1879600"/>
                    <a:pt x="0" y="1584706"/>
                    <a:pt x="0" y="1221105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4596638" cy="1892300"/>
            </a:xfrm>
            <a:custGeom>
              <a:avLst/>
              <a:gdLst/>
              <a:ahLst/>
              <a:cxnLst/>
              <a:rect l="l" t="t" r="r" b="b"/>
              <a:pathLst>
                <a:path w="4596638" h="1892300">
                  <a:moveTo>
                    <a:pt x="0" y="664845"/>
                  </a:moveTo>
                  <a:cubicBezTo>
                    <a:pt x="0" y="297688"/>
                    <a:pt x="298831" y="0"/>
                    <a:pt x="667512" y="0"/>
                  </a:cubicBez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lnTo>
                    <a:pt x="3929126" y="6350"/>
                  </a:lnTo>
                  <a:lnTo>
                    <a:pt x="3929126" y="0"/>
                  </a:lnTo>
                  <a:cubicBezTo>
                    <a:pt x="4297807" y="0"/>
                    <a:pt x="4596638" y="297688"/>
                    <a:pt x="4596638" y="664845"/>
                  </a:cubicBezTo>
                  <a:lnTo>
                    <a:pt x="4590288" y="664845"/>
                  </a:lnTo>
                  <a:lnTo>
                    <a:pt x="4596638" y="664845"/>
                  </a:lnTo>
                  <a:lnTo>
                    <a:pt x="4596638" y="1227455"/>
                  </a:lnTo>
                  <a:lnTo>
                    <a:pt x="4590288" y="1227455"/>
                  </a:lnTo>
                  <a:lnTo>
                    <a:pt x="4596638" y="1227455"/>
                  </a:lnTo>
                  <a:cubicBezTo>
                    <a:pt x="4596638" y="1594739"/>
                    <a:pt x="4297807" y="1892300"/>
                    <a:pt x="3929126" y="1892300"/>
                  </a:cubicBezTo>
                  <a:lnTo>
                    <a:pt x="3929126" y="1885950"/>
                  </a:lnTo>
                  <a:lnTo>
                    <a:pt x="3929126" y="1892300"/>
                  </a:lnTo>
                  <a:lnTo>
                    <a:pt x="667512" y="1892300"/>
                  </a:lnTo>
                  <a:lnTo>
                    <a:pt x="667512" y="1885950"/>
                  </a:lnTo>
                  <a:lnTo>
                    <a:pt x="667512" y="1892300"/>
                  </a:lnTo>
                  <a:cubicBezTo>
                    <a:pt x="298831" y="1892300"/>
                    <a:pt x="0" y="1594612"/>
                    <a:pt x="0" y="1227455"/>
                  </a:cubicBezTo>
                  <a:lnTo>
                    <a:pt x="0" y="664845"/>
                  </a:lnTo>
                  <a:lnTo>
                    <a:pt x="6350" y="664845"/>
                  </a:lnTo>
                  <a:lnTo>
                    <a:pt x="0" y="664845"/>
                  </a:lnTo>
                  <a:moveTo>
                    <a:pt x="12700" y="664845"/>
                  </a:moveTo>
                  <a:lnTo>
                    <a:pt x="12700" y="1227455"/>
                  </a:lnTo>
                  <a:lnTo>
                    <a:pt x="6350" y="1227455"/>
                  </a:lnTo>
                  <a:lnTo>
                    <a:pt x="12700" y="1227455"/>
                  </a:lnTo>
                  <a:cubicBezTo>
                    <a:pt x="12700" y="1587627"/>
                    <a:pt x="305816" y="1879600"/>
                    <a:pt x="667512" y="1879600"/>
                  </a:cubicBezTo>
                  <a:lnTo>
                    <a:pt x="3929126" y="1879600"/>
                  </a:lnTo>
                  <a:cubicBezTo>
                    <a:pt x="4290822" y="1879600"/>
                    <a:pt x="4583938" y="1587627"/>
                    <a:pt x="4583938" y="1227455"/>
                  </a:cubicBezTo>
                  <a:lnTo>
                    <a:pt x="4583938" y="664845"/>
                  </a:lnTo>
                  <a:cubicBezTo>
                    <a:pt x="4583938" y="304673"/>
                    <a:pt x="4290822" y="12700"/>
                    <a:pt x="3929126" y="12700"/>
                  </a:cubicBezTo>
                  <a:lnTo>
                    <a:pt x="667512" y="12700"/>
                  </a:lnTo>
                  <a:lnTo>
                    <a:pt x="667512" y="6350"/>
                  </a:lnTo>
                  <a:lnTo>
                    <a:pt x="667512" y="12700"/>
                  </a:lnTo>
                  <a:cubicBezTo>
                    <a:pt x="305816" y="12700"/>
                    <a:pt x="12700" y="304673"/>
                    <a:pt x="12700" y="66484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973889" y="2772985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Alert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25598" y="3167148"/>
            <a:ext cx="3007519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Buzzer + SMS to caregiver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09263" y="4212214"/>
            <a:ext cx="14209071" cy="1135113"/>
            <a:chOff x="0" y="0"/>
            <a:chExt cx="18945428" cy="1513484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8932779" cy="1500759"/>
            </a:xfrm>
            <a:custGeom>
              <a:avLst/>
              <a:gdLst/>
              <a:ahLst/>
              <a:cxnLst/>
              <a:rect l="l" t="t" r="r" b="b"/>
              <a:pathLst>
                <a:path w="18932779" h="1500759">
                  <a:moveTo>
                    <a:pt x="0" y="658495"/>
                  </a:moveTo>
                  <a:cubicBezTo>
                    <a:pt x="0" y="294894"/>
                    <a:pt x="297180" y="0"/>
                    <a:pt x="663702" y="0"/>
                  </a:cubicBezTo>
                  <a:lnTo>
                    <a:pt x="18269077" y="0"/>
                  </a:lnTo>
                  <a:cubicBezTo>
                    <a:pt x="18635599" y="0"/>
                    <a:pt x="18932779" y="294894"/>
                    <a:pt x="18932779" y="658495"/>
                  </a:cubicBezTo>
                  <a:lnTo>
                    <a:pt x="18932779" y="842264"/>
                  </a:lnTo>
                  <a:cubicBezTo>
                    <a:pt x="18932779" y="1205992"/>
                    <a:pt x="18635599" y="1500759"/>
                    <a:pt x="18269077" y="1500759"/>
                  </a:cubicBezTo>
                  <a:lnTo>
                    <a:pt x="663702" y="1500759"/>
                  </a:lnTo>
                  <a:cubicBezTo>
                    <a:pt x="297180" y="1500759"/>
                    <a:pt x="0" y="1205992"/>
                    <a:pt x="0" y="842264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8945479" cy="1513459"/>
            </a:xfrm>
            <a:custGeom>
              <a:avLst/>
              <a:gdLst/>
              <a:ahLst/>
              <a:cxnLst/>
              <a:rect l="l" t="t" r="r" b="b"/>
              <a:pathLst>
                <a:path w="18945479" h="1513459">
                  <a:moveTo>
                    <a:pt x="0" y="664845"/>
                  </a:moveTo>
                  <a:cubicBezTo>
                    <a:pt x="0" y="297688"/>
                    <a:pt x="299974" y="0"/>
                    <a:pt x="670052" y="0"/>
                  </a:cubicBezTo>
                  <a:lnTo>
                    <a:pt x="18275427" y="0"/>
                  </a:lnTo>
                  <a:lnTo>
                    <a:pt x="18275427" y="6350"/>
                  </a:lnTo>
                  <a:lnTo>
                    <a:pt x="18275427" y="0"/>
                  </a:lnTo>
                  <a:cubicBezTo>
                    <a:pt x="18645378" y="0"/>
                    <a:pt x="18945479" y="297688"/>
                    <a:pt x="18945479" y="664845"/>
                  </a:cubicBezTo>
                  <a:lnTo>
                    <a:pt x="18939129" y="664845"/>
                  </a:lnTo>
                  <a:lnTo>
                    <a:pt x="18945479" y="664845"/>
                  </a:lnTo>
                  <a:lnTo>
                    <a:pt x="18945479" y="848614"/>
                  </a:lnTo>
                  <a:lnTo>
                    <a:pt x="18939129" y="848614"/>
                  </a:lnTo>
                  <a:lnTo>
                    <a:pt x="18945479" y="848614"/>
                  </a:lnTo>
                  <a:cubicBezTo>
                    <a:pt x="18945479" y="1215898"/>
                    <a:pt x="18645505" y="1513459"/>
                    <a:pt x="18275427" y="1513459"/>
                  </a:cubicBezTo>
                  <a:lnTo>
                    <a:pt x="18275427" y="1507109"/>
                  </a:lnTo>
                  <a:lnTo>
                    <a:pt x="18275427" y="1513459"/>
                  </a:lnTo>
                  <a:lnTo>
                    <a:pt x="670052" y="1513459"/>
                  </a:lnTo>
                  <a:lnTo>
                    <a:pt x="670052" y="1507109"/>
                  </a:lnTo>
                  <a:lnTo>
                    <a:pt x="670052" y="1513459"/>
                  </a:lnTo>
                  <a:cubicBezTo>
                    <a:pt x="299974" y="1513459"/>
                    <a:pt x="0" y="1215898"/>
                    <a:pt x="0" y="848614"/>
                  </a:cubicBezTo>
                  <a:lnTo>
                    <a:pt x="0" y="664845"/>
                  </a:lnTo>
                  <a:lnTo>
                    <a:pt x="6350" y="664845"/>
                  </a:lnTo>
                  <a:lnTo>
                    <a:pt x="0" y="664845"/>
                  </a:lnTo>
                  <a:moveTo>
                    <a:pt x="12700" y="664845"/>
                  </a:moveTo>
                  <a:lnTo>
                    <a:pt x="12700" y="848614"/>
                  </a:lnTo>
                  <a:lnTo>
                    <a:pt x="6350" y="848614"/>
                  </a:lnTo>
                  <a:lnTo>
                    <a:pt x="12700" y="848614"/>
                  </a:lnTo>
                  <a:cubicBezTo>
                    <a:pt x="12700" y="1208786"/>
                    <a:pt x="306959" y="1500759"/>
                    <a:pt x="670052" y="1500759"/>
                  </a:cubicBezTo>
                  <a:lnTo>
                    <a:pt x="18275427" y="1500759"/>
                  </a:lnTo>
                  <a:cubicBezTo>
                    <a:pt x="18638520" y="1500759"/>
                    <a:pt x="18932779" y="1208659"/>
                    <a:pt x="18932779" y="848614"/>
                  </a:cubicBezTo>
                  <a:lnTo>
                    <a:pt x="18932779" y="664845"/>
                  </a:lnTo>
                  <a:cubicBezTo>
                    <a:pt x="18932779" y="304800"/>
                    <a:pt x="18638520" y="12700"/>
                    <a:pt x="18275427" y="12700"/>
                  </a:cubicBezTo>
                  <a:lnTo>
                    <a:pt x="670052" y="12700"/>
                  </a:lnTo>
                  <a:lnTo>
                    <a:pt x="670052" y="6350"/>
                  </a:lnTo>
                  <a:lnTo>
                    <a:pt x="670052" y="12700"/>
                  </a:lnTo>
                  <a:cubicBezTo>
                    <a:pt x="306959" y="12700"/>
                    <a:pt x="12700" y="304800"/>
                    <a:pt x="12700" y="664845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7878513" y="4320845"/>
            <a:ext cx="2670572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 0.96” OLED display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42153" y="4722389"/>
            <a:ext cx="13769130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Provides real-time status feedback (SAFE / RISK / FALL DETECTED).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44151" y="7155066"/>
            <a:ext cx="4608757" cy="58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≥90%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62288" y="7944145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Accuracy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44151" y="8364741"/>
            <a:ext cx="4608757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Target fall-event detection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39541" y="7155066"/>
            <a:ext cx="4608757" cy="58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&lt;200ms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57677" y="7944145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Latency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39541" y="8364741"/>
            <a:ext cx="4608757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On ESP32 processing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634940" y="7155066"/>
            <a:ext cx="4608757" cy="58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≤₹2.5K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53067" y="7944145"/>
            <a:ext cx="2572341" cy="33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Device Cost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634940" y="8364741"/>
            <a:ext cx="4608757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Total BOM budget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53533" y="9255623"/>
            <a:ext cx="14199546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750" i="1" dirty="0">
                <a:solidFill>
                  <a:srgbClr val="CCCCCC"/>
                </a:solidFill>
                <a:latin typeface="Heebo Light"/>
                <a:ea typeface="Heebo Light"/>
                <a:cs typeface="Heebo Light"/>
                <a:sym typeface="Heebo Light"/>
              </a:rPr>
              <a:t>N25B01A0097 | Problem ID: MC-48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17736A01-927D-8B53-C604-6094EE0C7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648577"/>
              </p:ext>
            </p:extLst>
          </p:nvPr>
        </p:nvGraphicFramePr>
        <p:xfrm>
          <a:off x="1981638" y="544620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73383978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79675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82906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Existing Bands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SentinelX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065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Pre-Fall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958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Offline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340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Cost &lt; ₹3000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52043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9C5EB8B9-8EAB-8488-FAC2-3D59B8B4E725}"/>
              </a:ext>
            </a:extLst>
          </p:cNvPr>
          <p:cNvSpPr txBox="1"/>
          <p:nvPr/>
        </p:nvSpPr>
        <p:spPr>
          <a:xfrm>
            <a:off x="8942926" y="5647217"/>
            <a:ext cx="9379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Scenario: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dirty="0">
                <a:solidFill>
                  <a:schemeClr val="bg2"/>
                </a:solidFill>
              </a:rPr>
              <a:t>Elder walking → instability spike → model detects RISK → </a:t>
            </a:r>
          </a:p>
          <a:p>
            <a:r>
              <a:rPr lang="en-IN" dirty="0">
                <a:solidFill>
                  <a:schemeClr val="bg2"/>
                </a:solidFill>
              </a:rPr>
              <a:t>buzzer vibrates → fall detected → SMS sent in 150ms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8099"/>
            <a:ext cx="18288000" cy="10248901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708672" y="460713"/>
            <a:ext cx="6321323" cy="41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50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Inventory &amp; Component Feasibility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75487" y="1356541"/>
            <a:ext cx="12722428" cy="3954361"/>
            <a:chOff x="0" y="0"/>
            <a:chExt cx="16963238" cy="52724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63264" cy="5272532"/>
            </a:xfrm>
            <a:custGeom>
              <a:avLst/>
              <a:gdLst/>
              <a:ahLst/>
              <a:cxnLst/>
              <a:rect l="l" t="t" r="r" b="b"/>
              <a:pathLst>
                <a:path w="16963264" h="5272532">
                  <a:moveTo>
                    <a:pt x="0" y="109601"/>
                  </a:moveTo>
                  <a:cubicBezTo>
                    <a:pt x="0" y="49022"/>
                    <a:pt x="49149" y="0"/>
                    <a:pt x="109728" y="0"/>
                  </a:cubicBezTo>
                  <a:lnTo>
                    <a:pt x="16853536" y="0"/>
                  </a:lnTo>
                  <a:lnTo>
                    <a:pt x="16853536" y="6350"/>
                  </a:lnTo>
                  <a:lnTo>
                    <a:pt x="16853536" y="0"/>
                  </a:lnTo>
                  <a:cubicBezTo>
                    <a:pt x="16914115" y="0"/>
                    <a:pt x="16963264" y="49022"/>
                    <a:pt x="16963264" y="109601"/>
                  </a:cubicBezTo>
                  <a:lnTo>
                    <a:pt x="16956914" y="109601"/>
                  </a:lnTo>
                  <a:lnTo>
                    <a:pt x="16963264" y="109601"/>
                  </a:lnTo>
                  <a:lnTo>
                    <a:pt x="16963264" y="5162931"/>
                  </a:lnTo>
                  <a:lnTo>
                    <a:pt x="16956914" y="5162931"/>
                  </a:lnTo>
                  <a:lnTo>
                    <a:pt x="16963264" y="5162931"/>
                  </a:lnTo>
                  <a:cubicBezTo>
                    <a:pt x="16963264" y="5223383"/>
                    <a:pt x="16914115" y="5272532"/>
                    <a:pt x="16853536" y="5272532"/>
                  </a:cubicBezTo>
                  <a:lnTo>
                    <a:pt x="16853536" y="5266182"/>
                  </a:lnTo>
                  <a:lnTo>
                    <a:pt x="16853536" y="5272532"/>
                  </a:lnTo>
                  <a:lnTo>
                    <a:pt x="109728" y="5272532"/>
                  </a:lnTo>
                  <a:lnTo>
                    <a:pt x="109728" y="5266182"/>
                  </a:lnTo>
                  <a:lnTo>
                    <a:pt x="109728" y="5272532"/>
                  </a:lnTo>
                  <a:cubicBezTo>
                    <a:pt x="49149" y="5272532"/>
                    <a:pt x="0" y="5223510"/>
                    <a:pt x="0" y="5162931"/>
                  </a:cubicBezTo>
                  <a:lnTo>
                    <a:pt x="0" y="109601"/>
                  </a:lnTo>
                  <a:lnTo>
                    <a:pt x="6350" y="109601"/>
                  </a:lnTo>
                  <a:lnTo>
                    <a:pt x="0" y="109601"/>
                  </a:lnTo>
                  <a:moveTo>
                    <a:pt x="12700" y="109601"/>
                  </a:moveTo>
                  <a:lnTo>
                    <a:pt x="12700" y="5162931"/>
                  </a:lnTo>
                  <a:lnTo>
                    <a:pt x="6350" y="5162931"/>
                  </a:lnTo>
                  <a:lnTo>
                    <a:pt x="12700" y="5162931"/>
                  </a:lnTo>
                  <a:cubicBezTo>
                    <a:pt x="12700" y="5216398"/>
                    <a:pt x="56134" y="5259832"/>
                    <a:pt x="109728" y="5259832"/>
                  </a:cubicBezTo>
                  <a:lnTo>
                    <a:pt x="16853536" y="5259832"/>
                  </a:lnTo>
                  <a:cubicBezTo>
                    <a:pt x="16907129" y="5259832"/>
                    <a:pt x="16950564" y="5216525"/>
                    <a:pt x="16950564" y="5162931"/>
                  </a:cubicBezTo>
                  <a:lnTo>
                    <a:pt x="16950564" y="109601"/>
                  </a:lnTo>
                  <a:cubicBezTo>
                    <a:pt x="16950564" y="56134"/>
                    <a:pt x="16907129" y="12700"/>
                    <a:pt x="16853536" y="12700"/>
                  </a:cubicBezTo>
                  <a:lnTo>
                    <a:pt x="109728" y="12700"/>
                  </a:lnTo>
                  <a:lnTo>
                    <a:pt x="109728" y="6350"/>
                  </a:lnTo>
                  <a:lnTo>
                    <a:pt x="109728" y="12700"/>
                  </a:lnTo>
                  <a:cubicBezTo>
                    <a:pt x="56134" y="12700"/>
                    <a:pt x="12700" y="56007"/>
                    <a:pt x="12700" y="109601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706998" y="1635052"/>
            <a:ext cx="12693853" cy="356892"/>
            <a:chOff x="0" y="0"/>
            <a:chExt cx="16925138" cy="47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874016" y="1509246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874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Component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6845" y="1509246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874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Purpose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0309" y="1509246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87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Status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33772" y="1509246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87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Cost (₹)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689774" y="1917559"/>
            <a:ext cx="12693853" cy="356892"/>
            <a:chOff x="0" y="0"/>
            <a:chExt cx="16925138" cy="475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874016" y="1866128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ESP32 </a:t>
            </a:r>
            <a:r>
              <a:rPr lang="en-US" sz="1750" dirty="0" err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DevKit</a:t>
            </a: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V1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86845" y="1866128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Edge compute + Wi-Fi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60309" y="1866128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33772" y="1866128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500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266767" y="2141178"/>
            <a:ext cx="11539866" cy="243762"/>
            <a:chOff x="0" y="0"/>
            <a:chExt cx="16925138" cy="4758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874016" y="2223021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MPU6050 IMU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86845" y="2223021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Motion sensing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60309" y="2223021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33772" y="2223021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150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689774" y="2441496"/>
            <a:ext cx="12693853" cy="356892"/>
            <a:chOff x="0" y="0"/>
            <a:chExt cx="16925138" cy="4758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2874016" y="2579913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SIM800L GSM Module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86845" y="2579913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SMS alert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60309" y="2579913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33772" y="2579913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400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689774" y="2798388"/>
            <a:ext cx="12693853" cy="356892"/>
            <a:chOff x="0" y="0"/>
            <a:chExt cx="16925138" cy="4758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2874016" y="2936796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Buzzer + Vibration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86845" y="2936796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On-device alert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60309" y="2936796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33772" y="2936796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120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689774" y="3155280"/>
            <a:ext cx="12693853" cy="356892"/>
            <a:chOff x="0" y="0"/>
            <a:chExt cx="16925138" cy="4758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2874016" y="3293688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Li-ion Battery + Charger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86845" y="3293688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Portable power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860309" y="3293688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033772" y="3293688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350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689774" y="3512172"/>
            <a:ext cx="12693853" cy="356892"/>
            <a:chOff x="0" y="0"/>
            <a:chExt cx="16925138" cy="4758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2874016" y="3650580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Enclosure + Strap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86845" y="3650580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Safety + usability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60309" y="3650580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033772" y="3650580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300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2689774" y="3869065"/>
            <a:ext cx="12693853" cy="356892"/>
            <a:chOff x="0" y="0"/>
            <a:chExt cx="16925138" cy="4758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2874016" y="4007472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Wiring + Perfboard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86845" y="4007472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Connections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60309" y="4007472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033772" y="4007472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150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2689774" y="4225947"/>
            <a:ext cx="12693853" cy="356892"/>
            <a:chOff x="0" y="0"/>
            <a:chExt cx="16925138" cy="475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2874016" y="4364365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0.96” I2C OLED (128x64)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86845" y="4306339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visual status display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860309" y="4364365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 Purchase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033772" y="4364365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200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2689774" y="4582839"/>
            <a:ext cx="12693853" cy="356892"/>
            <a:chOff x="0" y="0"/>
            <a:chExt cx="16925138" cy="47585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2874016" y="4721247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Laptop (existing)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686845" y="4794946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Model training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860309" y="4721247"/>
            <a:ext cx="2795740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Already Owned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033772" y="4721247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2689774" y="4939732"/>
            <a:ext cx="12693853" cy="356892"/>
            <a:chOff x="0" y="0"/>
            <a:chExt cx="16925138" cy="47585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6925162" cy="475869"/>
            </a:xfrm>
            <a:custGeom>
              <a:avLst/>
              <a:gdLst/>
              <a:ahLst/>
              <a:cxnLst/>
              <a:rect l="l" t="t" r="r" b="b"/>
              <a:pathLst>
                <a:path w="16925162" h="475869">
                  <a:moveTo>
                    <a:pt x="0" y="0"/>
                  </a:moveTo>
                  <a:lnTo>
                    <a:pt x="16925162" y="0"/>
                  </a:lnTo>
                  <a:lnTo>
                    <a:pt x="16925162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71" name="TextBox 71"/>
          <p:cNvSpPr txBox="1"/>
          <p:nvPr/>
        </p:nvSpPr>
        <p:spPr>
          <a:xfrm>
            <a:off x="2874016" y="5078139"/>
            <a:ext cx="3435106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TOTAL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033772" y="5078139"/>
            <a:ext cx="2165747" cy="13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75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₹2,170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568179" y="5589365"/>
            <a:ext cx="4206326" cy="24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Software Stack &amp; Development Tools</a:t>
            </a:r>
          </a:p>
        </p:txBody>
      </p:sp>
      <p:grpSp>
        <p:nvGrpSpPr>
          <p:cNvPr id="74" name="Group 74"/>
          <p:cNvGrpSpPr>
            <a:grpSpLocks/>
          </p:cNvGrpSpPr>
          <p:nvPr/>
        </p:nvGrpSpPr>
        <p:grpSpPr>
          <a:xfrm>
            <a:off x="2568179" y="6278756"/>
            <a:ext cx="3107531" cy="1933099"/>
            <a:chOff x="0" y="0"/>
            <a:chExt cx="4143375" cy="2577465"/>
          </a:xfrm>
        </p:grpSpPr>
        <p:sp>
          <p:nvSpPr>
            <p:cNvPr id="75" name="Freeform 75"/>
            <p:cNvSpPr>
              <a:spLocks/>
            </p:cNvSpPr>
            <p:nvPr/>
          </p:nvSpPr>
          <p:spPr>
            <a:xfrm>
              <a:off x="12700" y="12700"/>
              <a:ext cx="4117975" cy="2552065"/>
            </a:xfrm>
            <a:custGeom>
              <a:avLst/>
              <a:gdLst/>
              <a:ahLst/>
              <a:cxnLst/>
              <a:rect l="l" t="t" r="r" b="b"/>
              <a:pathLst>
                <a:path w="4117975" h="2552065">
                  <a:moveTo>
                    <a:pt x="0" y="128270"/>
                  </a:moveTo>
                  <a:cubicBezTo>
                    <a:pt x="0" y="57404"/>
                    <a:pt x="57658" y="0"/>
                    <a:pt x="128778" y="0"/>
                  </a:cubicBezTo>
                  <a:lnTo>
                    <a:pt x="3989197" y="0"/>
                  </a:lnTo>
                  <a:cubicBezTo>
                    <a:pt x="4060317" y="0"/>
                    <a:pt x="4117975" y="57404"/>
                    <a:pt x="4117975" y="128270"/>
                  </a:cubicBezTo>
                  <a:lnTo>
                    <a:pt x="4117975" y="2423795"/>
                  </a:lnTo>
                  <a:cubicBezTo>
                    <a:pt x="4117975" y="2494661"/>
                    <a:pt x="4060317" y="2552065"/>
                    <a:pt x="3989197" y="2552065"/>
                  </a:cubicBezTo>
                  <a:lnTo>
                    <a:pt x="128778" y="2552065"/>
                  </a:lnTo>
                  <a:cubicBezTo>
                    <a:pt x="57658" y="2552065"/>
                    <a:pt x="0" y="2494661"/>
                    <a:pt x="0" y="2423795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  <p:sp>
          <p:nvSpPr>
            <p:cNvPr id="76" name="Freeform 76"/>
            <p:cNvSpPr>
              <a:spLocks/>
            </p:cNvSpPr>
            <p:nvPr/>
          </p:nvSpPr>
          <p:spPr>
            <a:xfrm>
              <a:off x="0" y="0"/>
              <a:ext cx="4143375" cy="2577465"/>
            </a:xfrm>
            <a:custGeom>
              <a:avLst/>
              <a:gdLst/>
              <a:ahLst/>
              <a:cxnLst/>
              <a:rect l="l" t="t" r="r" b="b"/>
              <a:pathLst>
                <a:path w="4143375" h="2577465">
                  <a:moveTo>
                    <a:pt x="0" y="140970"/>
                  </a:moveTo>
                  <a:cubicBezTo>
                    <a:pt x="0" y="63119"/>
                    <a:pt x="63373" y="0"/>
                    <a:pt x="141478" y="0"/>
                  </a:cubicBezTo>
                  <a:lnTo>
                    <a:pt x="4001897" y="0"/>
                  </a:lnTo>
                  <a:lnTo>
                    <a:pt x="4001897" y="12700"/>
                  </a:lnTo>
                  <a:lnTo>
                    <a:pt x="4001897" y="0"/>
                  </a:lnTo>
                  <a:cubicBezTo>
                    <a:pt x="4080002" y="0"/>
                    <a:pt x="4143375" y="63119"/>
                    <a:pt x="4143375" y="140970"/>
                  </a:cubicBezTo>
                  <a:lnTo>
                    <a:pt x="4130675" y="140970"/>
                  </a:lnTo>
                  <a:lnTo>
                    <a:pt x="4143375" y="140970"/>
                  </a:lnTo>
                  <a:lnTo>
                    <a:pt x="4143375" y="2436495"/>
                  </a:lnTo>
                  <a:lnTo>
                    <a:pt x="4130675" y="2436495"/>
                  </a:lnTo>
                  <a:lnTo>
                    <a:pt x="4143375" y="2436495"/>
                  </a:lnTo>
                  <a:cubicBezTo>
                    <a:pt x="4143375" y="2514473"/>
                    <a:pt x="4080002" y="2577465"/>
                    <a:pt x="4001897" y="2577465"/>
                  </a:cubicBezTo>
                  <a:lnTo>
                    <a:pt x="4001897" y="2564765"/>
                  </a:lnTo>
                  <a:lnTo>
                    <a:pt x="4001897" y="2577465"/>
                  </a:lnTo>
                  <a:lnTo>
                    <a:pt x="141478" y="2577465"/>
                  </a:lnTo>
                  <a:lnTo>
                    <a:pt x="141478" y="2564765"/>
                  </a:lnTo>
                  <a:lnTo>
                    <a:pt x="141478" y="2577465"/>
                  </a:lnTo>
                  <a:cubicBezTo>
                    <a:pt x="63373" y="2577592"/>
                    <a:pt x="0" y="2514473"/>
                    <a:pt x="0" y="2436495"/>
                  </a:cubicBezTo>
                  <a:lnTo>
                    <a:pt x="0" y="140970"/>
                  </a:lnTo>
                  <a:lnTo>
                    <a:pt x="12700" y="140970"/>
                  </a:lnTo>
                  <a:lnTo>
                    <a:pt x="0" y="140970"/>
                  </a:lnTo>
                  <a:moveTo>
                    <a:pt x="25400" y="140970"/>
                  </a:moveTo>
                  <a:lnTo>
                    <a:pt x="25400" y="2436495"/>
                  </a:lnTo>
                  <a:lnTo>
                    <a:pt x="12700" y="2436495"/>
                  </a:lnTo>
                  <a:lnTo>
                    <a:pt x="25400" y="2436495"/>
                  </a:lnTo>
                  <a:cubicBezTo>
                    <a:pt x="25400" y="2500249"/>
                    <a:pt x="77343" y="2552065"/>
                    <a:pt x="141478" y="2552065"/>
                  </a:cubicBezTo>
                  <a:lnTo>
                    <a:pt x="4001897" y="2552065"/>
                  </a:lnTo>
                  <a:cubicBezTo>
                    <a:pt x="4066032" y="2552065"/>
                    <a:pt x="4117975" y="2500249"/>
                    <a:pt x="4117975" y="2436495"/>
                  </a:cubicBezTo>
                  <a:lnTo>
                    <a:pt x="4117975" y="140970"/>
                  </a:lnTo>
                  <a:cubicBezTo>
                    <a:pt x="4117975" y="77216"/>
                    <a:pt x="4066032" y="25400"/>
                    <a:pt x="4001897" y="25400"/>
                  </a:cubicBezTo>
                  <a:lnTo>
                    <a:pt x="141478" y="25400"/>
                  </a:lnTo>
                  <a:lnTo>
                    <a:pt x="141478" y="12700"/>
                  </a:lnTo>
                  <a:lnTo>
                    <a:pt x="141478" y="25400"/>
                  </a:lnTo>
                  <a:cubicBezTo>
                    <a:pt x="77343" y="25400"/>
                    <a:pt x="25400" y="77216"/>
                    <a:pt x="25400" y="14097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77" name="TextBox 77"/>
          <p:cNvSpPr txBox="1"/>
          <p:nvPr/>
        </p:nvSpPr>
        <p:spPr>
          <a:xfrm>
            <a:off x="2873873" y="6510480"/>
            <a:ext cx="2682183" cy="55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Arduino IDE / </a:t>
            </a:r>
            <a:r>
              <a:rPr lang="en-US" sz="200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PlatformIO</a:t>
            </a:r>
            <a:endParaRPr lang="en-US" sz="200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2993527" y="7221807"/>
            <a:ext cx="2682183" cy="88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ESP32 firmware development and deployment</a:t>
            </a:r>
          </a:p>
        </p:txBody>
      </p:sp>
      <p:grpSp>
        <p:nvGrpSpPr>
          <p:cNvPr id="79" name="Group 79"/>
          <p:cNvGrpSpPr>
            <a:grpSpLocks/>
          </p:cNvGrpSpPr>
          <p:nvPr/>
        </p:nvGrpSpPr>
        <p:grpSpPr>
          <a:xfrm>
            <a:off x="5869334" y="6278756"/>
            <a:ext cx="3107531" cy="1933156"/>
            <a:chOff x="0" y="0"/>
            <a:chExt cx="4143375" cy="2577541"/>
          </a:xfrm>
        </p:grpSpPr>
        <p:sp>
          <p:nvSpPr>
            <p:cNvPr id="80" name="Freeform 80"/>
            <p:cNvSpPr>
              <a:spLocks/>
            </p:cNvSpPr>
            <p:nvPr/>
          </p:nvSpPr>
          <p:spPr>
            <a:xfrm>
              <a:off x="12700" y="12700"/>
              <a:ext cx="4117975" cy="2552065"/>
            </a:xfrm>
            <a:custGeom>
              <a:avLst/>
              <a:gdLst/>
              <a:ahLst/>
              <a:cxnLst/>
              <a:rect l="l" t="t" r="r" b="b"/>
              <a:pathLst>
                <a:path w="4117975" h="2552065">
                  <a:moveTo>
                    <a:pt x="0" y="128270"/>
                  </a:moveTo>
                  <a:cubicBezTo>
                    <a:pt x="0" y="57404"/>
                    <a:pt x="57658" y="0"/>
                    <a:pt x="128778" y="0"/>
                  </a:cubicBezTo>
                  <a:lnTo>
                    <a:pt x="3989197" y="0"/>
                  </a:lnTo>
                  <a:cubicBezTo>
                    <a:pt x="4060317" y="0"/>
                    <a:pt x="4117975" y="57404"/>
                    <a:pt x="4117975" y="128270"/>
                  </a:cubicBezTo>
                  <a:lnTo>
                    <a:pt x="4117975" y="2423795"/>
                  </a:lnTo>
                  <a:cubicBezTo>
                    <a:pt x="4117975" y="2494661"/>
                    <a:pt x="4060317" y="2552065"/>
                    <a:pt x="3989197" y="2552065"/>
                  </a:cubicBezTo>
                  <a:lnTo>
                    <a:pt x="128778" y="2552065"/>
                  </a:lnTo>
                  <a:cubicBezTo>
                    <a:pt x="57658" y="2552065"/>
                    <a:pt x="0" y="2494661"/>
                    <a:pt x="0" y="2423795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  <p:sp>
          <p:nvSpPr>
            <p:cNvPr id="81" name="Freeform 81"/>
            <p:cNvSpPr>
              <a:spLocks/>
            </p:cNvSpPr>
            <p:nvPr/>
          </p:nvSpPr>
          <p:spPr>
            <a:xfrm>
              <a:off x="0" y="0"/>
              <a:ext cx="4143375" cy="2577465"/>
            </a:xfrm>
            <a:custGeom>
              <a:avLst/>
              <a:gdLst/>
              <a:ahLst/>
              <a:cxnLst/>
              <a:rect l="l" t="t" r="r" b="b"/>
              <a:pathLst>
                <a:path w="4143375" h="2577465">
                  <a:moveTo>
                    <a:pt x="0" y="140970"/>
                  </a:moveTo>
                  <a:cubicBezTo>
                    <a:pt x="0" y="63119"/>
                    <a:pt x="63373" y="0"/>
                    <a:pt x="141478" y="0"/>
                  </a:cubicBezTo>
                  <a:lnTo>
                    <a:pt x="4001897" y="0"/>
                  </a:lnTo>
                  <a:lnTo>
                    <a:pt x="4001897" y="12700"/>
                  </a:lnTo>
                  <a:lnTo>
                    <a:pt x="4001897" y="0"/>
                  </a:lnTo>
                  <a:cubicBezTo>
                    <a:pt x="4080002" y="0"/>
                    <a:pt x="4143375" y="63119"/>
                    <a:pt x="4143375" y="140970"/>
                  </a:cubicBezTo>
                  <a:lnTo>
                    <a:pt x="4130675" y="140970"/>
                  </a:lnTo>
                  <a:lnTo>
                    <a:pt x="4143375" y="140970"/>
                  </a:lnTo>
                  <a:lnTo>
                    <a:pt x="4143375" y="2436495"/>
                  </a:lnTo>
                  <a:lnTo>
                    <a:pt x="4130675" y="2436495"/>
                  </a:lnTo>
                  <a:lnTo>
                    <a:pt x="4143375" y="2436495"/>
                  </a:lnTo>
                  <a:cubicBezTo>
                    <a:pt x="4143375" y="2514473"/>
                    <a:pt x="4080002" y="2577465"/>
                    <a:pt x="4001897" y="2577465"/>
                  </a:cubicBezTo>
                  <a:lnTo>
                    <a:pt x="4001897" y="2564765"/>
                  </a:lnTo>
                  <a:lnTo>
                    <a:pt x="4001897" y="2577465"/>
                  </a:lnTo>
                  <a:lnTo>
                    <a:pt x="141478" y="2577465"/>
                  </a:lnTo>
                  <a:lnTo>
                    <a:pt x="141478" y="2564765"/>
                  </a:lnTo>
                  <a:lnTo>
                    <a:pt x="141478" y="2577465"/>
                  </a:lnTo>
                  <a:cubicBezTo>
                    <a:pt x="63373" y="2577592"/>
                    <a:pt x="0" y="2514473"/>
                    <a:pt x="0" y="2436495"/>
                  </a:cubicBezTo>
                  <a:lnTo>
                    <a:pt x="0" y="140970"/>
                  </a:lnTo>
                  <a:lnTo>
                    <a:pt x="12700" y="140970"/>
                  </a:lnTo>
                  <a:lnTo>
                    <a:pt x="0" y="140970"/>
                  </a:lnTo>
                  <a:moveTo>
                    <a:pt x="25400" y="140970"/>
                  </a:moveTo>
                  <a:lnTo>
                    <a:pt x="25400" y="2436495"/>
                  </a:lnTo>
                  <a:lnTo>
                    <a:pt x="12700" y="2436495"/>
                  </a:lnTo>
                  <a:lnTo>
                    <a:pt x="25400" y="2436495"/>
                  </a:lnTo>
                  <a:cubicBezTo>
                    <a:pt x="25400" y="2500249"/>
                    <a:pt x="77343" y="2552065"/>
                    <a:pt x="141478" y="2552065"/>
                  </a:cubicBezTo>
                  <a:lnTo>
                    <a:pt x="4001897" y="2552065"/>
                  </a:lnTo>
                  <a:cubicBezTo>
                    <a:pt x="4066032" y="2552065"/>
                    <a:pt x="4117975" y="2500249"/>
                    <a:pt x="4117975" y="2436495"/>
                  </a:cubicBezTo>
                  <a:lnTo>
                    <a:pt x="4117975" y="140970"/>
                  </a:lnTo>
                  <a:cubicBezTo>
                    <a:pt x="4117975" y="77216"/>
                    <a:pt x="4066032" y="25400"/>
                    <a:pt x="4001897" y="25400"/>
                  </a:cubicBezTo>
                  <a:lnTo>
                    <a:pt x="141478" y="25400"/>
                  </a:lnTo>
                  <a:lnTo>
                    <a:pt x="141478" y="12700"/>
                  </a:lnTo>
                  <a:lnTo>
                    <a:pt x="141478" y="25400"/>
                  </a:lnTo>
                  <a:cubicBezTo>
                    <a:pt x="77343" y="25400"/>
                    <a:pt x="25400" y="77216"/>
                    <a:pt x="25400" y="14097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82" name="TextBox 82"/>
          <p:cNvSpPr txBox="1"/>
          <p:nvPr/>
        </p:nvSpPr>
        <p:spPr>
          <a:xfrm>
            <a:off x="6082008" y="6510480"/>
            <a:ext cx="2498522" cy="2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TensorFlow Lite Micro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125946" y="7119904"/>
            <a:ext cx="2682183" cy="45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On-device ML inference optimization</a:t>
            </a:r>
          </a:p>
        </p:txBody>
      </p:sp>
      <p:grpSp>
        <p:nvGrpSpPr>
          <p:cNvPr id="84" name="Group 84"/>
          <p:cNvGrpSpPr>
            <a:grpSpLocks/>
          </p:cNvGrpSpPr>
          <p:nvPr/>
        </p:nvGrpSpPr>
        <p:grpSpPr>
          <a:xfrm>
            <a:off x="9077477" y="6278756"/>
            <a:ext cx="3107531" cy="1933156"/>
            <a:chOff x="0" y="0"/>
            <a:chExt cx="4143375" cy="2577541"/>
          </a:xfrm>
        </p:grpSpPr>
        <p:sp>
          <p:nvSpPr>
            <p:cNvPr id="85" name="Freeform 85"/>
            <p:cNvSpPr>
              <a:spLocks/>
            </p:cNvSpPr>
            <p:nvPr/>
          </p:nvSpPr>
          <p:spPr>
            <a:xfrm>
              <a:off x="12700" y="12700"/>
              <a:ext cx="4117975" cy="2552065"/>
            </a:xfrm>
            <a:custGeom>
              <a:avLst/>
              <a:gdLst/>
              <a:ahLst/>
              <a:cxnLst/>
              <a:rect l="l" t="t" r="r" b="b"/>
              <a:pathLst>
                <a:path w="4117975" h="2552065">
                  <a:moveTo>
                    <a:pt x="0" y="128270"/>
                  </a:moveTo>
                  <a:cubicBezTo>
                    <a:pt x="0" y="57404"/>
                    <a:pt x="57658" y="0"/>
                    <a:pt x="128778" y="0"/>
                  </a:cubicBezTo>
                  <a:lnTo>
                    <a:pt x="3989197" y="0"/>
                  </a:lnTo>
                  <a:cubicBezTo>
                    <a:pt x="4060317" y="0"/>
                    <a:pt x="4117975" y="57404"/>
                    <a:pt x="4117975" y="128270"/>
                  </a:cubicBezTo>
                  <a:lnTo>
                    <a:pt x="4117975" y="2423795"/>
                  </a:lnTo>
                  <a:cubicBezTo>
                    <a:pt x="4117975" y="2494661"/>
                    <a:pt x="4060317" y="2552065"/>
                    <a:pt x="3989197" y="2552065"/>
                  </a:cubicBezTo>
                  <a:lnTo>
                    <a:pt x="128778" y="2552065"/>
                  </a:lnTo>
                  <a:cubicBezTo>
                    <a:pt x="57658" y="2552065"/>
                    <a:pt x="0" y="2494661"/>
                    <a:pt x="0" y="2423795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  <p:sp>
          <p:nvSpPr>
            <p:cNvPr id="86" name="Freeform 86"/>
            <p:cNvSpPr>
              <a:spLocks/>
            </p:cNvSpPr>
            <p:nvPr/>
          </p:nvSpPr>
          <p:spPr>
            <a:xfrm>
              <a:off x="0" y="0"/>
              <a:ext cx="4143375" cy="2577465"/>
            </a:xfrm>
            <a:custGeom>
              <a:avLst/>
              <a:gdLst/>
              <a:ahLst/>
              <a:cxnLst/>
              <a:rect l="l" t="t" r="r" b="b"/>
              <a:pathLst>
                <a:path w="4143375" h="2577465">
                  <a:moveTo>
                    <a:pt x="0" y="140970"/>
                  </a:moveTo>
                  <a:cubicBezTo>
                    <a:pt x="0" y="63119"/>
                    <a:pt x="63373" y="0"/>
                    <a:pt x="141478" y="0"/>
                  </a:cubicBezTo>
                  <a:lnTo>
                    <a:pt x="4001897" y="0"/>
                  </a:lnTo>
                  <a:lnTo>
                    <a:pt x="4001897" y="12700"/>
                  </a:lnTo>
                  <a:lnTo>
                    <a:pt x="4001897" y="0"/>
                  </a:lnTo>
                  <a:cubicBezTo>
                    <a:pt x="4080002" y="0"/>
                    <a:pt x="4143375" y="63119"/>
                    <a:pt x="4143375" y="140970"/>
                  </a:cubicBezTo>
                  <a:lnTo>
                    <a:pt x="4130675" y="140970"/>
                  </a:lnTo>
                  <a:lnTo>
                    <a:pt x="4143375" y="140970"/>
                  </a:lnTo>
                  <a:lnTo>
                    <a:pt x="4143375" y="2436495"/>
                  </a:lnTo>
                  <a:lnTo>
                    <a:pt x="4130675" y="2436495"/>
                  </a:lnTo>
                  <a:lnTo>
                    <a:pt x="4143375" y="2436495"/>
                  </a:lnTo>
                  <a:cubicBezTo>
                    <a:pt x="4143375" y="2514473"/>
                    <a:pt x="4080002" y="2577465"/>
                    <a:pt x="4001897" y="2577465"/>
                  </a:cubicBezTo>
                  <a:lnTo>
                    <a:pt x="4001897" y="2564765"/>
                  </a:lnTo>
                  <a:lnTo>
                    <a:pt x="4001897" y="2577465"/>
                  </a:lnTo>
                  <a:lnTo>
                    <a:pt x="141478" y="2577465"/>
                  </a:lnTo>
                  <a:lnTo>
                    <a:pt x="141478" y="2564765"/>
                  </a:lnTo>
                  <a:lnTo>
                    <a:pt x="141478" y="2577465"/>
                  </a:lnTo>
                  <a:cubicBezTo>
                    <a:pt x="63373" y="2577592"/>
                    <a:pt x="0" y="2514473"/>
                    <a:pt x="0" y="2436495"/>
                  </a:cubicBezTo>
                  <a:lnTo>
                    <a:pt x="0" y="140970"/>
                  </a:lnTo>
                  <a:lnTo>
                    <a:pt x="12700" y="140970"/>
                  </a:lnTo>
                  <a:lnTo>
                    <a:pt x="0" y="140970"/>
                  </a:lnTo>
                  <a:moveTo>
                    <a:pt x="25400" y="140970"/>
                  </a:moveTo>
                  <a:lnTo>
                    <a:pt x="25400" y="2436495"/>
                  </a:lnTo>
                  <a:lnTo>
                    <a:pt x="12700" y="2436495"/>
                  </a:lnTo>
                  <a:lnTo>
                    <a:pt x="25400" y="2436495"/>
                  </a:lnTo>
                  <a:cubicBezTo>
                    <a:pt x="25400" y="2500249"/>
                    <a:pt x="77343" y="2552065"/>
                    <a:pt x="141478" y="2552065"/>
                  </a:cubicBezTo>
                  <a:lnTo>
                    <a:pt x="4001897" y="2552065"/>
                  </a:lnTo>
                  <a:cubicBezTo>
                    <a:pt x="4066032" y="2552065"/>
                    <a:pt x="4117975" y="2500249"/>
                    <a:pt x="4117975" y="2436495"/>
                  </a:cubicBezTo>
                  <a:lnTo>
                    <a:pt x="4117975" y="140970"/>
                  </a:lnTo>
                  <a:cubicBezTo>
                    <a:pt x="4117975" y="77216"/>
                    <a:pt x="4066032" y="25400"/>
                    <a:pt x="4001897" y="25400"/>
                  </a:cubicBezTo>
                  <a:lnTo>
                    <a:pt x="141478" y="25400"/>
                  </a:lnTo>
                  <a:lnTo>
                    <a:pt x="141478" y="12700"/>
                  </a:lnTo>
                  <a:lnTo>
                    <a:pt x="141478" y="25400"/>
                  </a:lnTo>
                  <a:cubicBezTo>
                    <a:pt x="77343" y="25400"/>
                    <a:pt x="25400" y="77216"/>
                    <a:pt x="25400" y="14097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87" name="TextBox 87"/>
          <p:cNvSpPr txBox="1"/>
          <p:nvPr/>
        </p:nvSpPr>
        <p:spPr>
          <a:xfrm>
            <a:off x="9290152" y="6510480"/>
            <a:ext cx="2682183" cy="55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Python (NumPy, Pandas)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307954" y="7269289"/>
            <a:ext cx="2682183" cy="45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 processing and model training</a:t>
            </a:r>
          </a:p>
        </p:txBody>
      </p:sp>
      <p:grpSp>
        <p:nvGrpSpPr>
          <p:cNvPr id="89" name="Group 89"/>
          <p:cNvGrpSpPr>
            <a:grpSpLocks/>
          </p:cNvGrpSpPr>
          <p:nvPr/>
        </p:nvGrpSpPr>
        <p:grpSpPr>
          <a:xfrm>
            <a:off x="12285612" y="6278756"/>
            <a:ext cx="3107531" cy="1933156"/>
            <a:chOff x="0" y="0"/>
            <a:chExt cx="4143375" cy="2577541"/>
          </a:xfrm>
        </p:grpSpPr>
        <p:sp>
          <p:nvSpPr>
            <p:cNvPr id="90" name="Freeform 90"/>
            <p:cNvSpPr>
              <a:spLocks/>
            </p:cNvSpPr>
            <p:nvPr/>
          </p:nvSpPr>
          <p:spPr>
            <a:xfrm>
              <a:off x="12700" y="12700"/>
              <a:ext cx="4117975" cy="2552065"/>
            </a:xfrm>
            <a:custGeom>
              <a:avLst/>
              <a:gdLst/>
              <a:ahLst/>
              <a:cxnLst/>
              <a:rect l="l" t="t" r="r" b="b"/>
              <a:pathLst>
                <a:path w="4117975" h="2552065">
                  <a:moveTo>
                    <a:pt x="0" y="128270"/>
                  </a:moveTo>
                  <a:cubicBezTo>
                    <a:pt x="0" y="57404"/>
                    <a:pt x="57658" y="0"/>
                    <a:pt x="128778" y="0"/>
                  </a:cubicBezTo>
                  <a:lnTo>
                    <a:pt x="3989197" y="0"/>
                  </a:lnTo>
                  <a:cubicBezTo>
                    <a:pt x="4060317" y="0"/>
                    <a:pt x="4117975" y="57404"/>
                    <a:pt x="4117975" y="128270"/>
                  </a:cubicBezTo>
                  <a:lnTo>
                    <a:pt x="4117975" y="2423795"/>
                  </a:lnTo>
                  <a:cubicBezTo>
                    <a:pt x="4117975" y="2494661"/>
                    <a:pt x="4060317" y="2552065"/>
                    <a:pt x="3989197" y="2552065"/>
                  </a:cubicBezTo>
                  <a:lnTo>
                    <a:pt x="128778" y="2552065"/>
                  </a:lnTo>
                  <a:cubicBezTo>
                    <a:pt x="57658" y="2552065"/>
                    <a:pt x="0" y="2494661"/>
                    <a:pt x="0" y="2423795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  <p:sp>
          <p:nvSpPr>
            <p:cNvPr id="91" name="Freeform 91"/>
            <p:cNvSpPr>
              <a:spLocks/>
            </p:cNvSpPr>
            <p:nvPr/>
          </p:nvSpPr>
          <p:spPr>
            <a:xfrm>
              <a:off x="0" y="0"/>
              <a:ext cx="4143375" cy="2577465"/>
            </a:xfrm>
            <a:custGeom>
              <a:avLst/>
              <a:gdLst/>
              <a:ahLst/>
              <a:cxnLst/>
              <a:rect l="l" t="t" r="r" b="b"/>
              <a:pathLst>
                <a:path w="4143375" h="2577465">
                  <a:moveTo>
                    <a:pt x="0" y="140970"/>
                  </a:moveTo>
                  <a:cubicBezTo>
                    <a:pt x="0" y="63119"/>
                    <a:pt x="63373" y="0"/>
                    <a:pt x="141478" y="0"/>
                  </a:cubicBezTo>
                  <a:lnTo>
                    <a:pt x="4001897" y="0"/>
                  </a:lnTo>
                  <a:lnTo>
                    <a:pt x="4001897" y="12700"/>
                  </a:lnTo>
                  <a:lnTo>
                    <a:pt x="4001897" y="0"/>
                  </a:lnTo>
                  <a:cubicBezTo>
                    <a:pt x="4080002" y="0"/>
                    <a:pt x="4143375" y="63119"/>
                    <a:pt x="4143375" y="140970"/>
                  </a:cubicBezTo>
                  <a:lnTo>
                    <a:pt x="4130675" y="140970"/>
                  </a:lnTo>
                  <a:lnTo>
                    <a:pt x="4143375" y="140970"/>
                  </a:lnTo>
                  <a:lnTo>
                    <a:pt x="4143375" y="2436495"/>
                  </a:lnTo>
                  <a:lnTo>
                    <a:pt x="4130675" y="2436495"/>
                  </a:lnTo>
                  <a:lnTo>
                    <a:pt x="4143375" y="2436495"/>
                  </a:lnTo>
                  <a:cubicBezTo>
                    <a:pt x="4143375" y="2514473"/>
                    <a:pt x="4080002" y="2577465"/>
                    <a:pt x="4001897" y="2577465"/>
                  </a:cubicBezTo>
                  <a:lnTo>
                    <a:pt x="4001897" y="2564765"/>
                  </a:lnTo>
                  <a:lnTo>
                    <a:pt x="4001897" y="2577465"/>
                  </a:lnTo>
                  <a:lnTo>
                    <a:pt x="141478" y="2577465"/>
                  </a:lnTo>
                  <a:lnTo>
                    <a:pt x="141478" y="2564765"/>
                  </a:lnTo>
                  <a:lnTo>
                    <a:pt x="141478" y="2577465"/>
                  </a:lnTo>
                  <a:cubicBezTo>
                    <a:pt x="63373" y="2577592"/>
                    <a:pt x="0" y="2514473"/>
                    <a:pt x="0" y="2436495"/>
                  </a:cubicBezTo>
                  <a:lnTo>
                    <a:pt x="0" y="140970"/>
                  </a:lnTo>
                  <a:lnTo>
                    <a:pt x="12700" y="140970"/>
                  </a:lnTo>
                  <a:lnTo>
                    <a:pt x="0" y="140970"/>
                  </a:lnTo>
                  <a:moveTo>
                    <a:pt x="25400" y="140970"/>
                  </a:moveTo>
                  <a:lnTo>
                    <a:pt x="25400" y="2436495"/>
                  </a:lnTo>
                  <a:lnTo>
                    <a:pt x="12700" y="2436495"/>
                  </a:lnTo>
                  <a:lnTo>
                    <a:pt x="25400" y="2436495"/>
                  </a:lnTo>
                  <a:cubicBezTo>
                    <a:pt x="25400" y="2500249"/>
                    <a:pt x="77343" y="2552065"/>
                    <a:pt x="141478" y="2552065"/>
                  </a:cubicBezTo>
                  <a:lnTo>
                    <a:pt x="4001897" y="2552065"/>
                  </a:lnTo>
                  <a:cubicBezTo>
                    <a:pt x="4066032" y="2552065"/>
                    <a:pt x="4117975" y="2500249"/>
                    <a:pt x="4117975" y="2436495"/>
                  </a:cubicBezTo>
                  <a:lnTo>
                    <a:pt x="4117975" y="140970"/>
                  </a:lnTo>
                  <a:cubicBezTo>
                    <a:pt x="4117975" y="77216"/>
                    <a:pt x="4066032" y="25400"/>
                    <a:pt x="4001897" y="25400"/>
                  </a:cubicBezTo>
                  <a:lnTo>
                    <a:pt x="141478" y="25400"/>
                  </a:lnTo>
                  <a:lnTo>
                    <a:pt x="141478" y="12700"/>
                  </a:lnTo>
                  <a:lnTo>
                    <a:pt x="141478" y="25400"/>
                  </a:lnTo>
                  <a:cubicBezTo>
                    <a:pt x="77343" y="25400"/>
                    <a:pt x="25400" y="77216"/>
                    <a:pt x="25400" y="140970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92" name="TextBox 92"/>
          <p:cNvSpPr txBox="1"/>
          <p:nvPr/>
        </p:nvSpPr>
        <p:spPr>
          <a:xfrm>
            <a:off x="12498286" y="6510480"/>
            <a:ext cx="2302964" cy="2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Dataset Source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498286" y="6991350"/>
            <a:ext cx="2682183" cy="45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Self-collected IMU samples + augmentation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787548" y="9192863"/>
            <a:ext cx="12712903" cy="21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750" i="1" dirty="0">
                <a:solidFill>
                  <a:srgbClr val="CCCCCC"/>
                </a:solidFill>
                <a:latin typeface="Heebo Light"/>
                <a:ea typeface="Heebo Light"/>
                <a:cs typeface="Heebo Light"/>
                <a:sym typeface="Heebo Light"/>
              </a:rPr>
              <a:t>N25B01A0097 | Problem ID: MC-48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500C684-53C7-4544-5CCF-8BCE1BC64585}"/>
              </a:ext>
            </a:extLst>
          </p:cNvPr>
          <p:cNvSpPr txBox="1"/>
          <p:nvPr/>
        </p:nvSpPr>
        <p:spPr>
          <a:xfrm>
            <a:off x="8566932" y="112303"/>
            <a:ext cx="101656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92D050"/>
                </a:solidFill>
              </a:rPr>
              <a:t>MPU6050 → ESP32 (Edge ML) → </a:t>
            </a:r>
          </a:p>
          <a:p>
            <a:r>
              <a:rPr lang="en-IN" sz="2400" dirty="0">
                <a:solidFill>
                  <a:srgbClr val="92D050"/>
                </a:solidFill>
              </a:rPr>
              <a:t>  |         |        |</a:t>
            </a:r>
          </a:p>
          <a:p>
            <a:r>
              <a:rPr lang="en-IN" sz="2400" dirty="0">
                <a:solidFill>
                  <a:srgbClr val="92D050"/>
                </a:solidFill>
              </a:rPr>
              <a:t> OLED     Buzzer    GSM 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327005" y="1175747"/>
            <a:ext cx="7254326" cy="64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60-Day Timeline &amp; Milestones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303193" y="1954359"/>
            <a:ext cx="13843273" cy="5619579"/>
            <a:chOff x="0" y="0"/>
            <a:chExt cx="18457697" cy="7492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57672" cy="7492746"/>
            </a:xfrm>
            <a:custGeom>
              <a:avLst/>
              <a:gdLst/>
              <a:ahLst/>
              <a:cxnLst/>
              <a:rect l="l" t="t" r="r" b="b"/>
              <a:pathLst>
                <a:path w="18457672" h="7492746">
                  <a:moveTo>
                    <a:pt x="0" y="166370"/>
                  </a:moveTo>
                  <a:cubicBezTo>
                    <a:pt x="0" y="74422"/>
                    <a:pt x="74549" y="0"/>
                    <a:pt x="166497" y="0"/>
                  </a:cubicBezTo>
                  <a:lnTo>
                    <a:pt x="18291175" y="0"/>
                  </a:lnTo>
                  <a:lnTo>
                    <a:pt x="18291175" y="6350"/>
                  </a:lnTo>
                  <a:lnTo>
                    <a:pt x="18291175" y="0"/>
                  </a:lnTo>
                  <a:cubicBezTo>
                    <a:pt x="18383123" y="0"/>
                    <a:pt x="18457672" y="74422"/>
                    <a:pt x="18457672" y="166370"/>
                  </a:cubicBezTo>
                  <a:lnTo>
                    <a:pt x="18451322" y="166370"/>
                  </a:lnTo>
                  <a:lnTo>
                    <a:pt x="18457672" y="166370"/>
                  </a:lnTo>
                  <a:lnTo>
                    <a:pt x="18457672" y="7326376"/>
                  </a:lnTo>
                  <a:lnTo>
                    <a:pt x="18451322" y="7326376"/>
                  </a:lnTo>
                  <a:lnTo>
                    <a:pt x="18457672" y="7326376"/>
                  </a:lnTo>
                  <a:cubicBezTo>
                    <a:pt x="18457672" y="7418197"/>
                    <a:pt x="18383123" y="7492746"/>
                    <a:pt x="18291175" y="7492746"/>
                  </a:cubicBezTo>
                  <a:lnTo>
                    <a:pt x="18291175" y="7486396"/>
                  </a:lnTo>
                  <a:lnTo>
                    <a:pt x="18291175" y="7492746"/>
                  </a:lnTo>
                  <a:lnTo>
                    <a:pt x="166497" y="7492746"/>
                  </a:lnTo>
                  <a:lnTo>
                    <a:pt x="166497" y="7486396"/>
                  </a:lnTo>
                  <a:lnTo>
                    <a:pt x="166497" y="7492746"/>
                  </a:lnTo>
                  <a:cubicBezTo>
                    <a:pt x="74549" y="7492746"/>
                    <a:pt x="0" y="7418324"/>
                    <a:pt x="0" y="7326376"/>
                  </a:cubicBezTo>
                  <a:lnTo>
                    <a:pt x="0" y="166370"/>
                  </a:lnTo>
                  <a:lnTo>
                    <a:pt x="6350" y="166370"/>
                  </a:lnTo>
                  <a:lnTo>
                    <a:pt x="0" y="166370"/>
                  </a:lnTo>
                  <a:moveTo>
                    <a:pt x="12700" y="166370"/>
                  </a:moveTo>
                  <a:lnTo>
                    <a:pt x="12700" y="7326376"/>
                  </a:lnTo>
                  <a:lnTo>
                    <a:pt x="6350" y="7326376"/>
                  </a:lnTo>
                  <a:lnTo>
                    <a:pt x="12700" y="7326376"/>
                  </a:lnTo>
                  <a:cubicBezTo>
                    <a:pt x="12700" y="7411212"/>
                    <a:pt x="81534" y="7480046"/>
                    <a:pt x="166497" y="7480046"/>
                  </a:cubicBezTo>
                  <a:lnTo>
                    <a:pt x="18291175" y="7480046"/>
                  </a:lnTo>
                  <a:cubicBezTo>
                    <a:pt x="18376139" y="7480046"/>
                    <a:pt x="18444972" y="7411212"/>
                    <a:pt x="18444972" y="7326376"/>
                  </a:cubicBezTo>
                  <a:lnTo>
                    <a:pt x="18444972" y="166370"/>
                  </a:lnTo>
                  <a:cubicBezTo>
                    <a:pt x="18444972" y="81534"/>
                    <a:pt x="18376137" y="12700"/>
                    <a:pt x="18291175" y="12700"/>
                  </a:cubicBezTo>
                  <a:lnTo>
                    <a:pt x="166497" y="12700"/>
                  </a:lnTo>
                  <a:lnTo>
                    <a:pt x="166497" y="6350"/>
                  </a:lnTo>
                  <a:lnTo>
                    <a:pt x="166497" y="12700"/>
                  </a:lnTo>
                  <a:cubicBezTo>
                    <a:pt x="81534" y="12700"/>
                    <a:pt x="12700" y="81534"/>
                    <a:pt x="12700" y="16637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327005" y="1955749"/>
            <a:ext cx="13852798" cy="555288"/>
            <a:chOff x="0" y="0"/>
            <a:chExt cx="18470397" cy="7403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70372" cy="740410"/>
            </a:xfrm>
            <a:custGeom>
              <a:avLst/>
              <a:gdLst/>
              <a:ahLst/>
              <a:cxnLst/>
              <a:rect l="l" t="t" r="r" b="b"/>
              <a:pathLst>
                <a:path w="18470372" h="740410">
                  <a:moveTo>
                    <a:pt x="0" y="0"/>
                  </a:moveTo>
                  <a:lnTo>
                    <a:pt x="18470372" y="0"/>
                  </a:lnTo>
                  <a:lnTo>
                    <a:pt x="18470372" y="740410"/>
                  </a:lnTo>
                  <a:lnTo>
                    <a:pt x="0" y="74041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514524" y="2117179"/>
            <a:ext cx="1635623" cy="20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24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Phase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53169" y="2117179"/>
            <a:ext cx="2308917" cy="20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24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Duration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65118" y="2117179"/>
            <a:ext cx="4539405" cy="20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24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Key Tasks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07554" y="2117179"/>
            <a:ext cx="3473053" cy="20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224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Milestone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17480" y="2417959"/>
            <a:ext cx="13559876" cy="715861"/>
            <a:chOff x="0" y="0"/>
            <a:chExt cx="18079834" cy="9544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79847" cy="954532"/>
            </a:xfrm>
            <a:custGeom>
              <a:avLst/>
              <a:gdLst/>
              <a:ahLst/>
              <a:cxnLst/>
              <a:rect l="l" t="t" r="r" b="b"/>
              <a:pathLst>
                <a:path w="18079847" h="954532">
                  <a:moveTo>
                    <a:pt x="0" y="0"/>
                  </a:moveTo>
                  <a:lnTo>
                    <a:pt x="18079847" y="0"/>
                  </a:lnTo>
                  <a:lnTo>
                    <a:pt x="18079847" y="954532"/>
                  </a:lnTo>
                  <a:lnTo>
                    <a:pt x="0" y="9545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514524" y="2773185"/>
            <a:ext cx="163562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Phase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3169" y="2773185"/>
            <a:ext cx="2308917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Week 1-2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65118" y="2773185"/>
            <a:ext cx="4539405" cy="52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Procure components, sensor calibration, collect IMU samples (normal vs stumble vs fall)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07554" y="2773185"/>
            <a:ext cx="347305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Clean dataset + baseline thresholds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27005" y="3832689"/>
            <a:ext cx="13814698" cy="1320841"/>
            <a:chOff x="0" y="0"/>
            <a:chExt cx="18419597" cy="17611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419572" cy="1761109"/>
            </a:xfrm>
            <a:custGeom>
              <a:avLst/>
              <a:gdLst/>
              <a:ahLst/>
              <a:cxnLst/>
              <a:rect l="l" t="t" r="r" b="b"/>
              <a:pathLst>
                <a:path w="18419572" h="1761109">
                  <a:moveTo>
                    <a:pt x="0" y="0"/>
                  </a:moveTo>
                  <a:lnTo>
                    <a:pt x="18419572" y="0"/>
                  </a:lnTo>
                  <a:lnTo>
                    <a:pt x="18419572" y="1761109"/>
                  </a:lnTo>
                  <a:lnTo>
                    <a:pt x="0" y="1761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514524" y="4037276"/>
            <a:ext cx="163562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Phase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3169" y="4037276"/>
            <a:ext cx="2308917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Week 3-4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07053" y="4037276"/>
            <a:ext cx="4539405" cy="52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Train lightweight classifier (Decision Tree / 1D-CNN), evaluate accuracy, reduce false positives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07554" y="4037276"/>
            <a:ext cx="3473053" cy="52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Model ≥85% baseline + confusion matrix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288905" y="5185934"/>
            <a:ext cx="13559876" cy="1248966"/>
            <a:chOff x="0" y="0"/>
            <a:chExt cx="18079834" cy="16652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79847" cy="1665351"/>
            </a:xfrm>
            <a:custGeom>
              <a:avLst/>
              <a:gdLst/>
              <a:ahLst/>
              <a:cxnLst/>
              <a:rect l="l" t="t" r="r" b="b"/>
              <a:pathLst>
                <a:path w="18079847" h="1665351">
                  <a:moveTo>
                    <a:pt x="0" y="0"/>
                  </a:moveTo>
                  <a:lnTo>
                    <a:pt x="18079847" y="0"/>
                  </a:lnTo>
                  <a:lnTo>
                    <a:pt x="18079847" y="1665351"/>
                  </a:lnTo>
                  <a:lnTo>
                    <a:pt x="0" y="1665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2514524" y="5333590"/>
            <a:ext cx="163562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Phase 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11402" y="5345821"/>
            <a:ext cx="2308917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Week 5-7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23350" y="5345821"/>
            <a:ext cx="4539405" cy="10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Convert to TFLite Micro, deploy on ESP32, implement context-aware thresholds, integrate GSM + buzzer + OLED display, implement real-time status UI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07554" y="5296367"/>
            <a:ext cx="347305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edge inference + alert triggers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288905" y="6475181"/>
            <a:ext cx="13852798" cy="1076792"/>
            <a:chOff x="0" y="0"/>
            <a:chExt cx="18470397" cy="143572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470372" cy="1435735"/>
            </a:xfrm>
            <a:custGeom>
              <a:avLst/>
              <a:gdLst/>
              <a:ahLst/>
              <a:cxnLst/>
              <a:rect l="l" t="t" r="r" b="b"/>
              <a:pathLst>
                <a:path w="18470372" h="1435735">
                  <a:moveTo>
                    <a:pt x="0" y="0"/>
                  </a:moveTo>
                  <a:lnTo>
                    <a:pt x="18470372" y="0"/>
                  </a:lnTo>
                  <a:lnTo>
                    <a:pt x="18470372" y="1435735"/>
                  </a:lnTo>
                  <a:lnTo>
                    <a:pt x="0" y="143573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2514524" y="6708658"/>
            <a:ext cx="163562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Phase 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53169" y="6708658"/>
            <a:ext cx="2308917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Week 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23350" y="6713696"/>
            <a:ext cx="4539405" cy="52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Field testing with multiple patterns, tune thresholds, finalize enclosure, document results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07554" y="6708658"/>
            <a:ext cx="3473053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Working PoC demo + documentation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288905" y="7717326"/>
            <a:ext cx="13852798" cy="1506884"/>
            <a:chOff x="0" y="0"/>
            <a:chExt cx="18470397" cy="200917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470373" cy="2009267"/>
            </a:xfrm>
            <a:custGeom>
              <a:avLst/>
              <a:gdLst/>
              <a:ahLst/>
              <a:cxnLst/>
              <a:rect l="l" t="t" r="r" b="b"/>
              <a:pathLst>
                <a:path w="18470373" h="2009267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8360137" y="0"/>
                  </a:lnTo>
                  <a:cubicBezTo>
                    <a:pt x="18420970" y="0"/>
                    <a:pt x="18470373" y="49403"/>
                    <a:pt x="18470373" y="110236"/>
                  </a:cubicBezTo>
                  <a:lnTo>
                    <a:pt x="18470373" y="1899031"/>
                  </a:lnTo>
                  <a:cubicBezTo>
                    <a:pt x="18470373" y="1959864"/>
                    <a:pt x="18420970" y="2009267"/>
                    <a:pt x="18360137" y="2009267"/>
                  </a:cubicBezTo>
                  <a:lnTo>
                    <a:pt x="110236" y="2009267"/>
                  </a:lnTo>
                  <a:cubicBezTo>
                    <a:pt x="49403" y="2009267"/>
                    <a:pt x="0" y="1959864"/>
                    <a:pt x="0" y="1899031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2562577" y="7786973"/>
            <a:ext cx="307477" cy="245859"/>
            <a:chOff x="0" y="0"/>
            <a:chExt cx="409969" cy="327812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409956" cy="327787"/>
            </a:xfrm>
            <a:custGeom>
              <a:avLst/>
              <a:gdLst/>
              <a:ahLst/>
              <a:cxnLst/>
              <a:rect l="l" t="t" r="r" b="b"/>
              <a:pathLst>
                <a:path w="409956" h="327787">
                  <a:moveTo>
                    <a:pt x="0" y="0"/>
                  </a:moveTo>
                  <a:lnTo>
                    <a:pt x="409956" y="0"/>
                  </a:lnTo>
                  <a:lnTo>
                    <a:pt x="409956" y="327787"/>
                  </a:lnTo>
                  <a:lnTo>
                    <a:pt x="0" y="32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05" r="-3" b="-817"/>
              </a:stretch>
            </a:blipFill>
          </p:spPr>
        </p:sp>
      </p:grpSp>
      <p:sp>
        <p:nvSpPr>
          <p:cNvPr id="43" name="TextBox 43"/>
          <p:cNvSpPr txBox="1"/>
          <p:nvPr/>
        </p:nvSpPr>
        <p:spPr>
          <a:xfrm>
            <a:off x="3054325" y="7779296"/>
            <a:ext cx="2997698" cy="29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Risk &amp; Contingency Plan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66802" y="8377990"/>
            <a:ext cx="12681194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 b="1" dirty="0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Risk:</a:t>
            </a:r>
            <a:r>
              <a:rPr lang="en-US" sz="1750" dirty="0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False positives during daily activities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66802" y="8749379"/>
            <a:ext cx="12681194" cy="25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750" b="1" dirty="0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Mitigation:</a:t>
            </a:r>
            <a:r>
              <a:rPr lang="en-US" sz="1750" dirty="0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Add smoothing window + activity gating (standing/walking detection) + threshold calibration per user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61905" y="9708909"/>
            <a:ext cx="13578926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5"/>
              </a:lnSpc>
            </a:pPr>
            <a:r>
              <a:rPr lang="en-US" sz="1750" i="1" dirty="0">
                <a:solidFill>
                  <a:srgbClr val="CCCCCC"/>
                </a:solidFill>
                <a:latin typeface="Heebo Light"/>
                <a:ea typeface="Heebo Light"/>
                <a:cs typeface="Heebo Light"/>
                <a:sym typeface="Heebo Light"/>
              </a:rPr>
              <a:t>N25B01A0097 | Problem ID: MC-48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279114" y="1644302"/>
            <a:ext cx="5427316" cy="35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350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Impact, Innovation &amp; Execution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246934" y="2646464"/>
            <a:ext cx="5239217" cy="2165899"/>
            <a:chOff x="0" y="0"/>
            <a:chExt cx="6985622" cy="2887866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6972935" cy="2875153"/>
            </a:xfrm>
            <a:custGeom>
              <a:avLst/>
              <a:gdLst/>
              <a:ahLst/>
              <a:cxnLst/>
              <a:rect l="l" t="t" r="r" b="b"/>
              <a:pathLst>
                <a:path w="6972935" h="2875153">
                  <a:moveTo>
                    <a:pt x="0" y="97282"/>
                  </a:moveTo>
                  <a:cubicBezTo>
                    <a:pt x="0" y="43561"/>
                    <a:pt x="43688" y="0"/>
                    <a:pt x="97536" y="0"/>
                  </a:cubicBezTo>
                  <a:lnTo>
                    <a:pt x="6875399" y="0"/>
                  </a:lnTo>
                  <a:cubicBezTo>
                    <a:pt x="6929247" y="0"/>
                    <a:pt x="6972935" y="43561"/>
                    <a:pt x="6972935" y="97282"/>
                  </a:cubicBezTo>
                  <a:lnTo>
                    <a:pt x="6972935" y="2777871"/>
                  </a:lnTo>
                  <a:cubicBezTo>
                    <a:pt x="6972935" y="2831592"/>
                    <a:pt x="6929247" y="2875153"/>
                    <a:pt x="6875399" y="2875153"/>
                  </a:cubicBezTo>
                  <a:lnTo>
                    <a:pt x="97536" y="2875153"/>
                  </a:lnTo>
                  <a:cubicBezTo>
                    <a:pt x="43688" y="2875153"/>
                    <a:pt x="0" y="2831592"/>
                    <a:pt x="0" y="277787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985635" cy="2887853"/>
            </a:xfrm>
            <a:custGeom>
              <a:avLst/>
              <a:gdLst/>
              <a:ahLst/>
              <a:cxnLst/>
              <a:rect l="l" t="t" r="r" b="b"/>
              <a:pathLst>
                <a:path w="6985635" h="2887853">
                  <a:moveTo>
                    <a:pt x="0" y="103632"/>
                  </a:moveTo>
                  <a:cubicBezTo>
                    <a:pt x="0" y="46355"/>
                    <a:pt x="46482" y="0"/>
                    <a:pt x="103886" y="0"/>
                  </a:cubicBezTo>
                  <a:lnTo>
                    <a:pt x="6881749" y="0"/>
                  </a:lnTo>
                  <a:lnTo>
                    <a:pt x="6881749" y="6350"/>
                  </a:lnTo>
                  <a:lnTo>
                    <a:pt x="6881749" y="0"/>
                  </a:lnTo>
                  <a:cubicBezTo>
                    <a:pt x="6939153" y="0"/>
                    <a:pt x="6985635" y="46355"/>
                    <a:pt x="6985635" y="103632"/>
                  </a:cubicBezTo>
                  <a:lnTo>
                    <a:pt x="6979285" y="103632"/>
                  </a:lnTo>
                  <a:lnTo>
                    <a:pt x="6985635" y="103632"/>
                  </a:lnTo>
                  <a:lnTo>
                    <a:pt x="6985635" y="2784221"/>
                  </a:lnTo>
                  <a:lnTo>
                    <a:pt x="6979285" y="2784221"/>
                  </a:lnTo>
                  <a:lnTo>
                    <a:pt x="6985635" y="2784221"/>
                  </a:lnTo>
                  <a:cubicBezTo>
                    <a:pt x="6985635" y="2841498"/>
                    <a:pt x="6939153" y="2887853"/>
                    <a:pt x="6881749" y="2887853"/>
                  </a:cubicBezTo>
                  <a:lnTo>
                    <a:pt x="6881749" y="2881503"/>
                  </a:lnTo>
                  <a:lnTo>
                    <a:pt x="6881749" y="2887853"/>
                  </a:lnTo>
                  <a:lnTo>
                    <a:pt x="103886" y="2887853"/>
                  </a:lnTo>
                  <a:lnTo>
                    <a:pt x="103886" y="2881503"/>
                  </a:lnTo>
                  <a:lnTo>
                    <a:pt x="103886" y="2887853"/>
                  </a:lnTo>
                  <a:cubicBezTo>
                    <a:pt x="46482" y="2887853"/>
                    <a:pt x="0" y="2841498"/>
                    <a:pt x="0" y="2784221"/>
                  </a:cubicBezTo>
                  <a:lnTo>
                    <a:pt x="0" y="103632"/>
                  </a:lnTo>
                  <a:lnTo>
                    <a:pt x="6350" y="103632"/>
                  </a:lnTo>
                  <a:lnTo>
                    <a:pt x="0" y="103632"/>
                  </a:lnTo>
                  <a:moveTo>
                    <a:pt x="12700" y="103632"/>
                  </a:moveTo>
                  <a:lnTo>
                    <a:pt x="12700" y="2784221"/>
                  </a:lnTo>
                  <a:lnTo>
                    <a:pt x="6350" y="2784221"/>
                  </a:lnTo>
                  <a:lnTo>
                    <a:pt x="12700" y="2784221"/>
                  </a:lnTo>
                  <a:cubicBezTo>
                    <a:pt x="12700" y="2834386"/>
                    <a:pt x="53467" y="2875153"/>
                    <a:pt x="103886" y="2875153"/>
                  </a:cubicBezTo>
                  <a:lnTo>
                    <a:pt x="6881749" y="2875153"/>
                  </a:lnTo>
                  <a:cubicBezTo>
                    <a:pt x="6932168" y="2875153"/>
                    <a:pt x="6972935" y="2834386"/>
                    <a:pt x="6972935" y="2784221"/>
                  </a:cubicBezTo>
                  <a:lnTo>
                    <a:pt x="6972935" y="103632"/>
                  </a:lnTo>
                  <a:cubicBezTo>
                    <a:pt x="6972935" y="53467"/>
                    <a:pt x="6932168" y="12700"/>
                    <a:pt x="6881749" y="12700"/>
                  </a:cubicBezTo>
                  <a:lnTo>
                    <a:pt x="103886" y="12700"/>
                  </a:lnTo>
                  <a:lnTo>
                    <a:pt x="103886" y="6350"/>
                  </a:lnTo>
                  <a:lnTo>
                    <a:pt x="103886" y="12700"/>
                  </a:lnTo>
                  <a:cubicBezTo>
                    <a:pt x="53467" y="12700"/>
                    <a:pt x="12700" y="53467"/>
                    <a:pt x="12700" y="103632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907218" y="2863005"/>
            <a:ext cx="2171109" cy="25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🌍</a:t>
            </a:r>
            <a:r>
              <a:rPr lang="en-US" sz="20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Impact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9023" y="3217069"/>
            <a:ext cx="4687643" cy="63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750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Affordable, real-time fall risk prediction for elderly individuals living independently. Reduces delayed medical response and improves home safety in Indian households.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621368" y="2646464"/>
            <a:ext cx="5063576" cy="2165899"/>
            <a:chOff x="0" y="0"/>
            <a:chExt cx="6751434" cy="2887866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6738747" cy="2875153"/>
            </a:xfrm>
            <a:custGeom>
              <a:avLst/>
              <a:gdLst/>
              <a:ahLst/>
              <a:cxnLst/>
              <a:rect l="l" t="t" r="r" b="b"/>
              <a:pathLst>
                <a:path w="6738747" h="2875153">
                  <a:moveTo>
                    <a:pt x="0" y="97282"/>
                  </a:moveTo>
                  <a:cubicBezTo>
                    <a:pt x="0" y="43561"/>
                    <a:pt x="43688" y="0"/>
                    <a:pt x="97536" y="0"/>
                  </a:cubicBezTo>
                  <a:lnTo>
                    <a:pt x="6641211" y="0"/>
                  </a:lnTo>
                  <a:cubicBezTo>
                    <a:pt x="6695059" y="0"/>
                    <a:pt x="6738747" y="43561"/>
                    <a:pt x="6738747" y="97282"/>
                  </a:cubicBezTo>
                  <a:lnTo>
                    <a:pt x="6738747" y="2777871"/>
                  </a:lnTo>
                  <a:cubicBezTo>
                    <a:pt x="6738747" y="2831592"/>
                    <a:pt x="6695059" y="2875153"/>
                    <a:pt x="6641211" y="2875153"/>
                  </a:cubicBezTo>
                  <a:lnTo>
                    <a:pt x="97536" y="2875153"/>
                  </a:lnTo>
                  <a:cubicBezTo>
                    <a:pt x="43688" y="2875153"/>
                    <a:pt x="0" y="2831592"/>
                    <a:pt x="0" y="2777871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751447" cy="2887853"/>
            </a:xfrm>
            <a:custGeom>
              <a:avLst/>
              <a:gdLst/>
              <a:ahLst/>
              <a:cxnLst/>
              <a:rect l="l" t="t" r="r" b="b"/>
              <a:pathLst>
                <a:path w="6751447" h="2887853">
                  <a:moveTo>
                    <a:pt x="0" y="103632"/>
                  </a:moveTo>
                  <a:cubicBezTo>
                    <a:pt x="0" y="46355"/>
                    <a:pt x="46482" y="0"/>
                    <a:pt x="103886" y="0"/>
                  </a:cubicBezTo>
                  <a:lnTo>
                    <a:pt x="6647561" y="0"/>
                  </a:lnTo>
                  <a:lnTo>
                    <a:pt x="6647561" y="6350"/>
                  </a:lnTo>
                  <a:lnTo>
                    <a:pt x="6647561" y="0"/>
                  </a:lnTo>
                  <a:cubicBezTo>
                    <a:pt x="6704965" y="0"/>
                    <a:pt x="6751447" y="46355"/>
                    <a:pt x="6751447" y="103632"/>
                  </a:cubicBezTo>
                  <a:lnTo>
                    <a:pt x="6745097" y="103632"/>
                  </a:lnTo>
                  <a:lnTo>
                    <a:pt x="6751447" y="103632"/>
                  </a:lnTo>
                  <a:lnTo>
                    <a:pt x="6751447" y="2784221"/>
                  </a:lnTo>
                  <a:lnTo>
                    <a:pt x="6745097" y="2784221"/>
                  </a:lnTo>
                  <a:lnTo>
                    <a:pt x="6751447" y="2784221"/>
                  </a:lnTo>
                  <a:cubicBezTo>
                    <a:pt x="6751447" y="2841498"/>
                    <a:pt x="6704965" y="2887853"/>
                    <a:pt x="6647561" y="2887853"/>
                  </a:cubicBezTo>
                  <a:lnTo>
                    <a:pt x="6647561" y="2881503"/>
                  </a:lnTo>
                  <a:lnTo>
                    <a:pt x="6647561" y="2887853"/>
                  </a:lnTo>
                  <a:lnTo>
                    <a:pt x="103886" y="2887853"/>
                  </a:lnTo>
                  <a:lnTo>
                    <a:pt x="103886" y="2881503"/>
                  </a:lnTo>
                  <a:lnTo>
                    <a:pt x="103886" y="2887853"/>
                  </a:lnTo>
                  <a:cubicBezTo>
                    <a:pt x="46482" y="2887853"/>
                    <a:pt x="0" y="2841498"/>
                    <a:pt x="0" y="2784221"/>
                  </a:cubicBezTo>
                  <a:lnTo>
                    <a:pt x="0" y="103632"/>
                  </a:lnTo>
                  <a:lnTo>
                    <a:pt x="6350" y="103632"/>
                  </a:lnTo>
                  <a:lnTo>
                    <a:pt x="0" y="103632"/>
                  </a:lnTo>
                  <a:moveTo>
                    <a:pt x="12700" y="103632"/>
                  </a:moveTo>
                  <a:lnTo>
                    <a:pt x="12700" y="2784221"/>
                  </a:lnTo>
                  <a:lnTo>
                    <a:pt x="6350" y="2784221"/>
                  </a:lnTo>
                  <a:lnTo>
                    <a:pt x="12700" y="2784221"/>
                  </a:lnTo>
                  <a:cubicBezTo>
                    <a:pt x="12700" y="2834386"/>
                    <a:pt x="53467" y="2875153"/>
                    <a:pt x="103886" y="2875153"/>
                  </a:cubicBezTo>
                  <a:lnTo>
                    <a:pt x="6647561" y="2875153"/>
                  </a:lnTo>
                  <a:cubicBezTo>
                    <a:pt x="6697980" y="2875153"/>
                    <a:pt x="6738747" y="2834386"/>
                    <a:pt x="6738747" y="2784221"/>
                  </a:cubicBezTo>
                  <a:lnTo>
                    <a:pt x="6738747" y="103632"/>
                  </a:lnTo>
                  <a:cubicBezTo>
                    <a:pt x="6738747" y="53467"/>
                    <a:pt x="6697980" y="12700"/>
                    <a:pt x="6647561" y="12700"/>
                  </a:cubicBezTo>
                  <a:lnTo>
                    <a:pt x="103886" y="12700"/>
                  </a:lnTo>
                  <a:lnTo>
                    <a:pt x="103886" y="6350"/>
                  </a:lnTo>
                  <a:lnTo>
                    <a:pt x="103886" y="12700"/>
                  </a:lnTo>
                  <a:cubicBezTo>
                    <a:pt x="53467" y="12700"/>
                    <a:pt x="12700" y="53467"/>
                    <a:pt x="12700" y="103632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809334" y="2891580"/>
            <a:ext cx="4687643" cy="1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2000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🚀</a:t>
            </a: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Innovation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09334" y="3169739"/>
            <a:ext cx="4687643" cy="145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1750"/>
              </a:lnSpc>
              <a:buFont typeface="Arial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Pre-fall instability detection</a:t>
            </a:r>
          </a:p>
          <a:p>
            <a:pPr marL="263922" lvl="1" indent="-131961" algn="l">
              <a:lnSpc>
                <a:spcPts val="1750"/>
              </a:lnSpc>
              <a:buFont typeface="Arial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Context-aware sensitivity</a:t>
            </a:r>
          </a:p>
          <a:p>
            <a:pPr marL="263922" lvl="1" indent="-131961" algn="l">
              <a:lnSpc>
                <a:spcPts val="1750"/>
              </a:lnSpc>
              <a:buFont typeface="Arial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Fully offline Edge AI on ESP32</a:t>
            </a:r>
          </a:p>
          <a:p>
            <a:pPr marL="263922" lvl="1" indent="-131961" algn="l">
              <a:lnSpc>
                <a:spcPts val="1750"/>
              </a:lnSpc>
              <a:buFont typeface="Arial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Low-cost design (~₹2,000)</a:t>
            </a:r>
          </a:p>
          <a:p>
            <a:pPr marL="263922" lvl="1" indent="-131961" algn="l">
              <a:lnSpc>
                <a:spcPts val="1750"/>
              </a:lnSpc>
              <a:buFont typeface="Arial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Minimal on-device visual interface for real-time risk transparency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246934" y="4943304"/>
            <a:ext cx="10438009" cy="1093832"/>
            <a:chOff x="0" y="0"/>
            <a:chExt cx="13917346" cy="145844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13904595" cy="1445641"/>
            </a:xfrm>
            <a:custGeom>
              <a:avLst/>
              <a:gdLst/>
              <a:ahLst/>
              <a:cxnLst/>
              <a:rect l="l" t="t" r="r" b="b"/>
              <a:pathLst>
                <a:path w="13904595" h="1445641">
                  <a:moveTo>
                    <a:pt x="0" y="112776"/>
                  </a:moveTo>
                  <a:cubicBezTo>
                    <a:pt x="0" y="50546"/>
                    <a:pt x="50927" y="0"/>
                    <a:pt x="113665" y="0"/>
                  </a:cubicBezTo>
                  <a:lnTo>
                    <a:pt x="13790930" y="0"/>
                  </a:lnTo>
                  <a:cubicBezTo>
                    <a:pt x="13853669" y="0"/>
                    <a:pt x="13904595" y="50546"/>
                    <a:pt x="13904595" y="112776"/>
                  </a:cubicBezTo>
                  <a:lnTo>
                    <a:pt x="13904595" y="1332865"/>
                  </a:lnTo>
                  <a:cubicBezTo>
                    <a:pt x="13904595" y="1395222"/>
                    <a:pt x="13853669" y="1445641"/>
                    <a:pt x="13790930" y="1445641"/>
                  </a:cubicBezTo>
                  <a:lnTo>
                    <a:pt x="113665" y="1445641"/>
                  </a:lnTo>
                  <a:cubicBezTo>
                    <a:pt x="50927" y="1445641"/>
                    <a:pt x="0" y="1395095"/>
                    <a:pt x="0" y="1332865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3917295" cy="1458341"/>
            </a:xfrm>
            <a:custGeom>
              <a:avLst/>
              <a:gdLst/>
              <a:ahLst/>
              <a:cxnLst/>
              <a:rect l="l" t="t" r="r" b="b"/>
              <a:pathLst>
                <a:path w="13917295" h="1458341">
                  <a:moveTo>
                    <a:pt x="0" y="119126"/>
                  </a:moveTo>
                  <a:cubicBezTo>
                    <a:pt x="0" y="53340"/>
                    <a:pt x="53848" y="0"/>
                    <a:pt x="120015" y="0"/>
                  </a:cubicBezTo>
                  <a:lnTo>
                    <a:pt x="13797280" y="0"/>
                  </a:lnTo>
                  <a:lnTo>
                    <a:pt x="13797280" y="6350"/>
                  </a:lnTo>
                  <a:lnTo>
                    <a:pt x="13797280" y="0"/>
                  </a:lnTo>
                  <a:cubicBezTo>
                    <a:pt x="13863574" y="0"/>
                    <a:pt x="13917295" y="53340"/>
                    <a:pt x="13917295" y="119126"/>
                  </a:cubicBezTo>
                  <a:lnTo>
                    <a:pt x="13910945" y="119126"/>
                  </a:lnTo>
                  <a:lnTo>
                    <a:pt x="13917295" y="119126"/>
                  </a:lnTo>
                  <a:lnTo>
                    <a:pt x="13917295" y="1339215"/>
                  </a:lnTo>
                  <a:lnTo>
                    <a:pt x="13910945" y="1339215"/>
                  </a:lnTo>
                  <a:lnTo>
                    <a:pt x="13917295" y="1339215"/>
                  </a:lnTo>
                  <a:cubicBezTo>
                    <a:pt x="13917295" y="1405128"/>
                    <a:pt x="13863447" y="1458341"/>
                    <a:pt x="13797280" y="1458341"/>
                  </a:cubicBezTo>
                  <a:lnTo>
                    <a:pt x="13797280" y="1451991"/>
                  </a:lnTo>
                  <a:lnTo>
                    <a:pt x="13797280" y="1458341"/>
                  </a:lnTo>
                  <a:lnTo>
                    <a:pt x="120015" y="1458341"/>
                  </a:lnTo>
                  <a:lnTo>
                    <a:pt x="120015" y="1451991"/>
                  </a:lnTo>
                  <a:lnTo>
                    <a:pt x="120015" y="1458341"/>
                  </a:lnTo>
                  <a:cubicBezTo>
                    <a:pt x="53721" y="1458341"/>
                    <a:pt x="0" y="1405001"/>
                    <a:pt x="0" y="1339215"/>
                  </a:cubicBezTo>
                  <a:lnTo>
                    <a:pt x="0" y="119126"/>
                  </a:lnTo>
                  <a:lnTo>
                    <a:pt x="6350" y="119126"/>
                  </a:lnTo>
                  <a:lnTo>
                    <a:pt x="0" y="119126"/>
                  </a:lnTo>
                  <a:moveTo>
                    <a:pt x="12700" y="119126"/>
                  </a:moveTo>
                  <a:lnTo>
                    <a:pt x="12700" y="1339215"/>
                  </a:lnTo>
                  <a:lnTo>
                    <a:pt x="6350" y="1339215"/>
                  </a:lnTo>
                  <a:lnTo>
                    <a:pt x="12700" y="1339215"/>
                  </a:lnTo>
                  <a:cubicBezTo>
                    <a:pt x="12700" y="1398016"/>
                    <a:pt x="60706" y="1445641"/>
                    <a:pt x="120015" y="1445641"/>
                  </a:cubicBezTo>
                  <a:lnTo>
                    <a:pt x="13797280" y="1445641"/>
                  </a:lnTo>
                  <a:cubicBezTo>
                    <a:pt x="13856590" y="1445641"/>
                    <a:pt x="13904595" y="1397889"/>
                    <a:pt x="13904595" y="1339215"/>
                  </a:cubicBezTo>
                  <a:lnTo>
                    <a:pt x="13904595" y="119126"/>
                  </a:lnTo>
                  <a:cubicBezTo>
                    <a:pt x="13904595" y="60325"/>
                    <a:pt x="13856590" y="12700"/>
                    <a:pt x="13797280" y="12700"/>
                  </a:cubicBezTo>
                  <a:lnTo>
                    <a:pt x="120015" y="12700"/>
                  </a:lnTo>
                  <a:lnTo>
                    <a:pt x="120015" y="6350"/>
                  </a:lnTo>
                  <a:lnTo>
                    <a:pt x="120015" y="12700"/>
                  </a:lnTo>
                  <a:cubicBezTo>
                    <a:pt x="60706" y="12700"/>
                    <a:pt x="12700" y="60452"/>
                    <a:pt x="12700" y="119126"/>
                  </a:cubicBezTo>
                  <a:close/>
                </a:path>
              </a:pathLst>
            </a:custGeom>
            <a:solidFill>
              <a:srgbClr val="4A2C85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1487445" y="5125641"/>
            <a:ext cx="2171109" cy="25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📈</a:t>
            </a:r>
            <a:r>
              <a:rPr lang="en-US" sz="20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Scalability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65809" y="5416001"/>
            <a:ext cx="10031168" cy="48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Home prototype → Elder-care facility deployment → IoT integration with optional dashboard for caregivers.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62996" y="6467048"/>
            <a:ext cx="2376688" cy="23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499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Why </a:t>
            </a:r>
            <a:r>
              <a:rPr lang="en-US" sz="2499" dirty="0" err="1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SentinelX</a:t>
            </a:r>
            <a:endParaRPr lang="en-US" sz="2499" dirty="0">
              <a:solidFill>
                <a:srgbClr val="F2F0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695438" y="6931471"/>
            <a:ext cx="2171109" cy="24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Team Strengths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65809" y="7465171"/>
            <a:ext cx="5665984" cy="1488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1750"/>
              </a:lnSpc>
              <a:buFont typeface="Arial"/>
              <a:buChar char="•"/>
            </a:pPr>
            <a:r>
              <a:rPr lang="en-US" sz="2000">
                <a:solidFill>
                  <a:srgbClr val="DCD7E5"/>
                </a:solidFill>
                <a:latin typeface="Calibri (MS)"/>
                <a:ea typeface="Calibri (MS)"/>
                <a:cs typeface="Calibri (MS)"/>
                <a:sym typeface="Calibri (MS)"/>
              </a:rPr>
              <a:t>Clear division of tasks: embedded systems, edge ML deployment, testing &amp; evaluation</a:t>
            </a:r>
          </a:p>
          <a:p>
            <a:pPr marL="301625" lvl="1" indent="-150812" algn="l">
              <a:lnSpc>
                <a:spcPts val="1750"/>
              </a:lnSpc>
              <a:buFont typeface="Arial"/>
              <a:buChar char="•"/>
            </a:pPr>
            <a:r>
              <a:rPr lang="en-US" sz="2000">
                <a:solidFill>
                  <a:srgbClr val="DCD7E5"/>
                </a:solidFill>
                <a:latin typeface="Calibri (MS)"/>
                <a:ea typeface="Calibri (MS)"/>
                <a:cs typeface="Calibri (MS)"/>
                <a:sym typeface="Calibri (MS)"/>
              </a:rPr>
              <a:t>Focused, feasible 60-day execution plan</a:t>
            </a:r>
          </a:p>
          <a:p>
            <a:pPr marL="301625" lvl="1" indent="-150812" algn="l">
              <a:lnSpc>
                <a:spcPts val="1750"/>
              </a:lnSpc>
              <a:buFont typeface="Arial"/>
              <a:buChar char="•"/>
            </a:pPr>
            <a:r>
              <a:rPr lang="en-US" sz="2000">
                <a:solidFill>
                  <a:srgbClr val="DCD7E5"/>
                </a:solidFill>
                <a:latin typeface="Calibri (MS)"/>
                <a:ea typeface="Calibri (MS)"/>
                <a:cs typeface="Calibri (MS)"/>
                <a:sym typeface="Calibri (MS)"/>
              </a:rPr>
              <a:t>Hands-on experience with ESP32 and sensor integration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18627" y="6810104"/>
            <a:ext cx="2171109" cy="24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 dirty="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Our Commitment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08959" y="7452646"/>
            <a:ext cx="4361555" cy="1460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Delivering a working edge-based fall risk prediction and alert prototype within 60 days, meeting all technical specifications and performance targets.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5809" y="9157097"/>
            <a:ext cx="10214372" cy="201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75"/>
              </a:lnSpc>
            </a:pPr>
            <a:r>
              <a:rPr lang="en-US" sz="1750" i="1" dirty="0">
                <a:solidFill>
                  <a:srgbClr val="CCCCCC"/>
                </a:solidFill>
                <a:latin typeface="Heebo Light"/>
                <a:ea typeface="Heebo Light"/>
                <a:cs typeface="Heebo Light"/>
                <a:sym typeface="Heebo Light"/>
              </a:rPr>
              <a:t>N25B01A0097 | Problem ID: MC-48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734</Words>
  <Application>Microsoft Office PowerPoint</Application>
  <PresentationFormat>Custom</PresentationFormat>
  <Paragraphs>167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Heebo Light</vt:lpstr>
      <vt:lpstr>Montserrat</vt:lpstr>
      <vt:lpstr>Arial</vt:lpstr>
      <vt:lpstr>Heebo Bold</vt:lpstr>
      <vt:lpstr>Calibri (MS)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TEAMXX_MC48_SVYASA.pptx</dc:title>
  <dc:creator>Darshit N</dc:creator>
  <cp:lastModifiedBy>Darshit N</cp:lastModifiedBy>
  <cp:revision>3</cp:revision>
  <dcterms:created xsi:type="dcterms:W3CDTF">2006-08-16T00:00:00Z</dcterms:created>
  <dcterms:modified xsi:type="dcterms:W3CDTF">2026-03-02T12:53:05Z</dcterms:modified>
  <dc:identifier>DAHCyXPHcJ4</dc:identifier>
</cp:coreProperties>
</file>